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6" r:id="rId1"/>
  </p:sldMasterIdLst>
  <p:sldIdLst>
    <p:sldId id="264" r:id="rId2"/>
    <p:sldId id="267" r:id="rId3"/>
    <p:sldId id="270" r:id="rId4"/>
    <p:sldId id="266" r:id="rId5"/>
    <p:sldId id="268" r:id="rId6"/>
    <p:sldId id="257" r:id="rId7"/>
    <p:sldId id="258" r:id="rId8"/>
    <p:sldId id="259" r:id="rId9"/>
    <p:sldId id="260" r:id="rId10"/>
    <p:sldId id="263" r:id="rId11"/>
    <p:sldId id="262" r:id="rId12"/>
    <p:sldId id="265" r:id="rId13"/>
    <p:sldId id="271" r:id="rId14"/>
    <p:sldId id="272" r:id="rId15"/>
    <p:sldId id="261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47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32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50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1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8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09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82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1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24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91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60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D3913-A8CF-474B-8AAA-219E2441110A}" type="datetimeFigureOut">
              <a:rPr lang="es-CO" smtClean="0"/>
              <a:t>9/05/26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AD48097-A69F-B248-959B-C22C245D872A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8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emf"/><Relationship Id="rId7" Type="http://schemas.openxmlformats.org/officeDocument/2006/relationships/hyperlink" Target="https://www.sciencedirect.com/journal/physica-c-superconductivity-and-its-applications/vol/554/suppl/C" TargetMode="Externa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journal/physica-c-superconductivity-and-its-applications/vol/581/suppl/C" TargetMode="External"/><Relationship Id="rId5" Type="http://schemas.openxmlformats.org/officeDocument/2006/relationships/hyperlink" Target="https://www.sciencedirect.com/journal/physica-c-superconductivity-and-its-applications" TargetMode="External"/><Relationship Id="rId4" Type="http://schemas.openxmlformats.org/officeDocument/2006/relationships/image" Target="../media/image14.emf"/><Relationship Id="rId9" Type="http://schemas.openxmlformats.org/officeDocument/2006/relationships/hyperlink" Target="https://www.researchgate.net/journal/Journal-of-Applied-Physics-1089-7550?_tp=eyJjb250ZXh0Ijp7ImZpcnN0UGFnZSI6Il9kaXJlY3QiLCJwYWdlIjoicHVibGljYXRpb24iLCJwcmV2aW91c1BhZ2UiOiJwdWJsaWNhdGlvbiIsInBvc2l0aW9uIjoicGFnZUhlYWRlciJ9fQ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journal/solid-state-communications/vol/306/suppl/C" TargetMode="External"/><Relationship Id="rId4" Type="http://schemas.openxmlformats.org/officeDocument/2006/relationships/hyperlink" Target="https://www.sciencedirect.com/journal/solid-state-communication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journal/physica-b-condensed-matter/vol/720/suppl/C" TargetMode="External"/><Relationship Id="rId5" Type="http://schemas.openxmlformats.org/officeDocument/2006/relationships/hyperlink" Target="https://www.sciencedirect.com/journal/physica-b-condensed-matter" TargetMode="External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opscience.iop.org/journal/1402-4896" TargetMode="Externa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BEDE10-3B8F-B63C-642E-6DE7BEC046BD}"/>
              </a:ext>
            </a:extLst>
          </p:cNvPr>
          <p:cNvSpPr txBox="1"/>
          <p:nvPr/>
        </p:nvSpPr>
        <p:spPr>
          <a:xfrm>
            <a:off x="411504" y="3119448"/>
            <a:ext cx="5796711" cy="1984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DIFFERENT PROPOSALS FOR THE IMPLEMENTATION OF SUPERCONDUCTING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DIODE TYPE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197F4-7E86-474C-A5D5-0FFD3BAD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0" r="-1" b="16952"/>
          <a:stretch>
            <a:fillRect/>
          </a:stretch>
        </p:blipFill>
        <p:spPr>
          <a:xfrm>
            <a:off x="7114162" y="471748"/>
            <a:ext cx="4324849" cy="2552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6E73F9-7AD5-CF3B-9C97-13B3C1A1B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4" r="2168" b="-2"/>
          <a:stretch>
            <a:fillRect/>
          </a:stretch>
        </p:blipFill>
        <p:spPr>
          <a:xfrm>
            <a:off x="5666757" y="4584580"/>
            <a:ext cx="2327027" cy="137313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BC624E-6106-4090-E84A-03A2ADA95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146" y="-10360"/>
            <a:ext cx="2559955" cy="16456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952534-8DB3-F3C3-2146-D827D25CE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729" y="2976564"/>
            <a:ext cx="1805910" cy="144472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BAECA45-0FEF-82E3-D049-5AF3BDC1A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676" y="342652"/>
            <a:ext cx="1241943" cy="12159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59CCED8-6CDC-99AA-8E3C-9F9EE3A94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6455" y="1160759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10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6474191-999A-B6C8-FA49-F9909E05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561" y="654002"/>
            <a:ext cx="5897264" cy="278949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9A2F686-BF91-ECED-D687-B7265E9BB8C5}"/>
              </a:ext>
            </a:extLst>
          </p:cNvPr>
          <p:cNvSpPr txBox="1"/>
          <p:nvPr/>
        </p:nvSpPr>
        <p:spPr>
          <a:xfrm>
            <a:off x="265814" y="3429000"/>
            <a:ext cx="583018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From</a:t>
            </a:r>
            <a:r>
              <a:rPr lang="es-CO" sz="1600" dirty="0"/>
              <a:t> </a:t>
            </a:r>
            <a:r>
              <a:rPr lang="es-CO" sz="1600" dirty="0" err="1"/>
              <a:t>left</a:t>
            </a:r>
            <a:r>
              <a:rPr lang="es-CO" sz="1600" dirty="0"/>
              <a:t> </a:t>
            </a:r>
            <a:r>
              <a:rPr lang="es-CO" sz="1600" dirty="0" err="1"/>
              <a:t>to</a:t>
            </a:r>
            <a:r>
              <a:rPr lang="es-CO" sz="1600" dirty="0"/>
              <a:t> </a:t>
            </a:r>
            <a:r>
              <a:rPr lang="es-CO" sz="1600" dirty="0" err="1"/>
              <a:t>right</a:t>
            </a:r>
            <a:r>
              <a:rPr lang="es-CO" sz="1600" dirty="0"/>
              <a:t>: Gilles Holst, </a:t>
            </a:r>
            <a:r>
              <a:rPr lang="es-CO" sz="1600" dirty="0" err="1"/>
              <a:t>Gerrit</a:t>
            </a:r>
            <a:r>
              <a:rPr lang="es-CO" sz="1600" dirty="0"/>
              <a:t> Jan </a:t>
            </a:r>
            <a:r>
              <a:rPr lang="es-CO" sz="1600" dirty="0" err="1"/>
              <a:t>Flim</a:t>
            </a:r>
            <a:r>
              <a:rPr lang="es-CO" sz="1600" dirty="0"/>
              <a:t> and Heike </a:t>
            </a:r>
            <a:r>
              <a:rPr lang="es-CO" sz="1600" dirty="0" err="1"/>
              <a:t>Onnes</a:t>
            </a:r>
            <a:r>
              <a:rPr lang="es-CO" sz="1600" dirty="0"/>
              <a:t> </a:t>
            </a:r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A06114-B940-AA7D-109B-887BCD25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951" y="74781"/>
            <a:ext cx="3672799" cy="27254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0288381-5756-6942-17C8-606AD5FB3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04" y="3982998"/>
            <a:ext cx="4223932" cy="197116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9908C46-35DF-4551-AA84-B849B81A2843}"/>
              </a:ext>
            </a:extLst>
          </p:cNvPr>
          <p:cNvSpPr txBox="1"/>
          <p:nvPr/>
        </p:nvSpPr>
        <p:spPr>
          <a:xfrm>
            <a:off x="3244134" y="4691786"/>
            <a:ext cx="43130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Shielding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magnetic</a:t>
            </a:r>
            <a:r>
              <a:rPr lang="es-CO" sz="1600" dirty="0"/>
              <a:t> </a:t>
            </a:r>
            <a:r>
              <a:rPr lang="es-CO" sz="1600" dirty="0" err="1"/>
              <a:t>field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superconductor </a:t>
            </a:r>
            <a:r>
              <a:rPr lang="es-CO" sz="1600" dirty="0" err="1"/>
              <a:t>sample</a:t>
            </a:r>
            <a:r>
              <a:rPr lang="es-CO" sz="1600" dirty="0"/>
              <a:t> (</a:t>
            </a:r>
            <a:r>
              <a:rPr lang="es-CO" sz="1600" dirty="0" err="1"/>
              <a:t>perfect</a:t>
            </a:r>
            <a:r>
              <a:rPr lang="es-CO" sz="1600" dirty="0"/>
              <a:t> </a:t>
            </a:r>
            <a:r>
              <a:rPr lang="es-CO" sz="1600" dirty="0" err="1"/>
              <a:t>diamagnetic</a:t>
            </a:r>
            <a:r>
              <a:rPr lang="es-CO" sz="1600" dirty="0"/>
              <a:t> </a:t>
            </a:r>
            <a:r>
              <a:rPr lang="es-CO" sz="1600" dirty="0" err="1"/>
              <a:t>behavior</a:t>
            </a:r>
            <a:r>
              <a:rPr lang="es-CO" sz="1600" dirty="0"/>
              <a:t> </a:t>
            </a:r>
            <a:r>
              <a:rPr lang="el-GR" sz="1600" dirty="0"/>
              <a:t>χ</a:t>
            </a:r>
            <a:r>
              <a:rPr lang="es-CO" sz="1600" dirty="0"/>
              <a:t>m = −1) </a:t>
            </a:r>
          </a:p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552660-1807-C2F4-86A3-E02DA441BDCA}"/>
              </a:ext>
            </a:extLst>
          </p:cNvPr>
          <p:cNvSpPr txBox="1"/>
          <p:nvPr/>
        </p:nvSpPr>
        <p:spPr>
          <a:xfrm>
            <a:off x="8083717" y="2875002"/>
            <a:ext cx="33212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Fall</a:t>
            </a:r>
            <a:r>
              <a:rPr lang="es-CO" sz="1600" dirty="0"/>
              <a:t> in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resistivity</a:t>
            </a:r>
            <a:r>
              <a:rPr lang="es-CO" sz="1600" dirty="0"/>
              <a:t> </a:t>
            </a:r>
            <a:r>
              <a:rPr lang="es-CO" sz="1600" dirty="0" err="1"/>
              <a:t>for</a:t>
            </a:r>
            <a:r>
              <a:rPr lang="es-CO" sz="1600" dirty="0"/>
              <a:t> </a:t>
            </a:r>
            <a:r>
              <a:rPr lang="es-CO" sz="1600" dirty="0" err="1"/>
              <a:t>dierent</a:t>
            </a:r>
            <a:r>
              <a:rPr lang="es-CO" sz="1600" dirty="0"/>
              <a:t> </a:t>
            </a:r>
            <a:r>
              <a:rPr lang="es-CO" sz="1600" dirty="0" err="1"/>
              <a:t>temperatures</a:t>
            </a:r>
            <a:r>
              <a:rPr lang="es-CO" sz="1600" dirty="0"/>
              <a:t> and </a:t>
            </a:r>
            <a:r>
              <a:rPr lang="es-CO" sz="1600" dirty="0" err="1"/>
              <a:t>dierent</a:t>
            </a:r>
            <a:r>
              <a:rPr lang="es-CO" sz="1600" dirty="0"/>
              <a:t> </a:t>
            </a:r>
            <a:r>
              <a:rPr lang="es-CO" sz="1600" dirty="0" err="1"/>
              <a:t>materials</a:t>
            </a:r>
            <a:r>
              <a:rPr lang="es-CO" sz="1600" dirty="0"/>
              <a:t>. </a:t>
            </a:r>
          </a:p>
          <a:p>
            <a:endParaRPr lang="es-CO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F9B7CC-B14F-B574-3C44-23D7C803EFEC}"/>
              </a:ext>
            </a:extLst>
          </p:cNvPr>
          <p:cNvSpPr/>
          <p:nvPr/>
        </p:nvSpPr>
        <p:spPr>
          <a:xfrm>
            <a:off x="6096000" y="81362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 I</a:t>
            </a:r>
          </a:p>
        </p:txBody>
      </p:sp>
    </p:spTree>
    <p:extLst>
      <p:ext uri="{BB962C8B-B14F-4D97-AF65-F5344CB8AC3E}">
        <p14:creationId xmlns:p14="http://schemas.microsoft.com/office/powerpoint/2010/main" val="1872545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CE32F07-820A-9A2F-440F-B056A2B1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338608"/>
            <a:ext cx="9646920" cy="456702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DCFD360-ED1F-A3C8-0E93-41412231630E}"/>
              </a:ext>
            </a:extLst>
          </p:cNvPr>
          <p:cNvSpPr txBox="1"/>
          <p:nvPr/>
        </p:nvSpPr>
        <p:spPr>
          <a:xfrm>
            <a:off x="3015049" y="5140411"/>
            <a:ext cx="636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/>
              <a:t>Periodic</a:t>
            </a:r>
            <a:r>
              <a:rPr lang="es-CO" dirty="0"/>
              <a:t> table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superconductors</a:t>
            </a:r>
            <a:r>
              <a:rPr lang="es-CO" dirty="0"/>
              <a:t> </a:t>
            </a:r>
            <a:r>
              <a:rPr lang="es-CO" dirty="0" err="1"/>
              <a:t>elements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05156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4AF89-49B0-91E7-6936-DE6A9F6A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11626" y="314811"/>
            <a:ext cx="8610600" cy="1293028"/>
          </a:xfrm>
        </p:spPr>
        <p:txBody>
          <a:bodyPr/>
          <a:lstStyle/>
          <a:p>
            <a:r>
              <a:rPr lang="es-CO" dirty="0" err="1"/>
              <a:t>IntroducTION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79FD97-0F3F-12CE-A62C-E9FE2BF06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2" y="210676"/>
            <a:ext cx="2456859" cy="2379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E8AA613-A497-2759-254B-7B859D36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948" y="39363"/>
            <a:ext cx="3457353" cy="276588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2B95999-0193-30B5-302E-48B58D92235E}"/>
              </a:ext>
            </a:extLst>
          </p:cNvPr>
          <p:cNvSpPr txBox="1"/>
          <p:nvPr/>
        </p:nvSpPr>
        <p:spPr>
          <a:xfrm>
            <a:off x="8224948" y="2805245"/>
            <a:ext cx="37469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Magnetization</a:t>
            </a:r>
            <a:r>
              <a:rPr lang="es-CO" sz="1600" dirty="0"/>
              <a:t> and </a:t>
            </a:r>
            <a:r>
              <a:rPr lang="es-CO" sz="1600" dirty="0" err="1"/>
              <a:t>vorticity</a:t>
            </a:r>
            <a:r>
              <a:rPr lang="es-CO" sz="1600" dirty="0"/>
              <a:t> </a:t>
            </a:r>
            <a:r>
              <a:rPr lang="es-CO" sz="1600" dirty="0" err="1"/>
              <a:t>behavior</a:t>
            </a:r>
            <a:r>
              <a:rPr lang="es-CO" sz="1600" dirty="0"/>
              <a:t> </a:t>
            </a:r>
            <a:r>
              <a:rPr lang="es-CO" sz="1600" dirty="0" err="1"/>
              <a:t>for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case 3, </a:t>
            </a:r>
            <a:r>
              <a:rPr lang="es-CO" sz="1600" dirty="0" err="1"/>
              <a:t>we</a:t>
            </a:r>
            <a:r>
              <a:rPr lang="es-CO" sz="1600" dirty="0"/>
              <a:t> </a:t>
            </a:r>
            <a:r>
              <a:rPr lang="es-CO" sz="1600" dirty="0" err="1"/>
              <a:t>took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value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parameter</a:t>
            </a:r>
            <a:r>
              <a:rPr lang="es-CO" sz="1600" dirty="0"/>
              <a:t> </a:t>
            </a:r>
            <a:r>
              <a:rPr lang="es-CO" sz="1600" dirty="0" err="1"/>
              <a:t>deformation</a:t>
            </a:r>
            <a:r>
              <a:rPr lang="es-CO" sz="1600" dirty="0"/>
              <a:t> </a:t>
            </a:r>
            <a:r>
              <a:rPr lang="el-GR" sz="1600" dirty="0"/>
              <a:t>τ = 0.3, τ = 0.5 </a:t>
            </a:r>
            <a:r>
              <a:rPr lang="es-CO" sz="1600" dirty="0"/>
              <a:t>and </a:t>
            </a:r>
            <a:r>
              <a:rPr lang="el-GR" sz="1600" dirty="0"/>
              <a:t>τ = 0.8, </a:t>
            </a:r>
            <a:r>
              <a:rPr lang="es-CO" sz="1600" dirty="0" err="1"/>
              <a:t>all</a:t>
            </a:r>
            <a:r>
              <a:rPr lang="es-CO" sz="1600" dirty="0"/>
              <a:t> </a:t>
            </a:r>
            <a:r>
              <a:rPr lang="es-CO" sz="1600" dirty="0" err="1"/>
              <a:t>with</a:t>
            </a:r>
            <a:r>
              <a:rPr lang="es-CO" sz="1600" dirty="0"/>
              <a:t> </a:t>
            </a:r>
            <a:r>
              <a:rPr lang="es-CO" sz="1600" dirty="0" err="1"/>
              <a:t>value</a:t>
            </a:r>
            <a:r>
              <a:rPr lang="es-CO" sz="1600" dirty="0"/>
              <a:t> </a:t>
            </a:r>
            <a:r>
              <a:rPr lang="el-GR" sz="1600" dirty="0"/>
              <a:t>κ = 1 </a:t>
            </a:r>
            <a:r>
              <a:rPr lang="es-CO" sz="1600" dirty="0"/>
              <a:t>and </a:t>
            </a:r>
            <a:r>
              <a:rPr lang="es-CO" sz="1600" dirty="0" err="1"/>
              <a:t>size</a:t>
            </a:r>
            <a:r>
              <a:rPr lang="es-CO" sz="1600" dirty="0"/>
              <a:t> L = 8. </a:t>
            </a:r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ACF479-3FE0-E1B6-69C5-A34B8009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153" y="3107660"/>
            <a:ext cx="4559300" cy="16891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95682C5-E44F-F260-C420-743733CEF3A2}"/>
              </a:ext>
            </a:extLst>
          </p:cNvPr>
          <p:cNvSpPr txBox="1"/>
          <p:nvPr/>
        </p:nvSpPr>
        <p:spPr>
          <a:xfrm>
            <a:off x="3095674" y="4850031"/>
            <a:ext cx="50922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Sequence</a:t>
            </a:r>
            <a:r>
              <a:rPr lang="es-CO" sz="1400" dirty="0"/>
              <a:t> (</a:t>
            </a:r>
            <a:r>
              <a:rPr lang="es-CO" sz="1400" dirty="0" err="1"/>
              <a:t>Left-Right</a:t>
            </a:r>
            <a:r>
              <a:rPr lang="es-CO" sz="1400" dirty="0"/>
              <a:t>)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state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vortices</a:t>
            </a:r>
            <a:r>
              <a:rPr lang="es-CO" sz="1400" dirty="0"/>
              <a:t> </a:t>
            </a:r>
            <a:r>
              <a:rPr lang="es-CO" sz="1400" dirty="0" err="1"/>
              <a:t>for</a:t>
            </a:r>
            <a:r>
              <a:rPr lang="es-CO" sz="1400" dirty="0"/>
              <a:t> case 3 (Up) and case 4(Down) </a:t>
            </a:r>
            <a:r>
              <a:rPr lang="es-CO" sz="1400" dirty="0" err="1"/>
              <a:t>configuration</a:t>
            </a:r>
            <a:r>
              <a:rPr lang="es-CO" sz="1400" dirty="0"/>
              <a:t> Fig.3.1(c-d),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same</a:t>
            </a:r>
            <a:r>
              <a:rPr lang="es-CO" sz="1400" dirty="0"/>
              <a:t> </a:t>
            </a:r>
            <a:r>
              <a:rPr lang="es-CO" sz="1400" dirty="0" err="1"/>
              <a:t>value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Field. </a:t>
            </a:r>
            <a:r>
              <a:rPr lang="es-CO" sz="1400" dirty="0" err="1"/>
              <a:t>We</a:t>
            </a:r>
            <a:r>
              <a:rPr lang="es-CO" sz="1400" dirty="0"/>
              <a:t> </a:t>
            </a:r>
            <a:r>
              <a:rPr lang="es-CO" sz="1400" dirty="0" err="1"/>
              <a:t>see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influuence</a:t>
            </a:r>
            <a:r>
              <a:rPr lang="es-CO" sz="1400" dirty="0"/>
              <a:t> </a:t>
            </a:r>
            <a:r>
              <a:rPr lang="es-CO" sz="1400" dirty="0" err="1"/>
              <a:t>that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deformation</a:t>
            </a:r>
            <a:r>
              <a:rPr lang="es-CO" sz="1400" dirty="0"/>
              <a:t> </a:t>
            </a:r>
            <a:r>
              <a:rPr lang="es-CO" sz="1400" dirty="0" err="1"/>
              <a:t>parameter</a:t>
            </a:r>
            <a:r>
              <a:rPr lang="es-CO" sz="1400" dirty="0"/>
              <a:t> has </a:t>
            </a:r>
            <a:r>
              <a:rPr lang="es-CO" sz="1400" dirty="0" err="1"/>
              <a:t>on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configuration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vortices</a:t>
            </a:r>
            <a:r>
              <a:rPr lang="es-CO" sz="1400" dirty="0"/>
              <a:t> and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variation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magnetization</a:t>
            </a:r>
            <a:r>
              <a:rPr lang="es-CO" sz="1400" dirty="0"/>
              <a:t> </a:t>
            </a:r>
          </a:p>
          <a:p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8B7D68-6FFD-3272-2479-F8C2FAE5EFD5}"/>
              </a:ext>
            </a:extLst>
          </p:cNvPr>
          <p:cNvSpPr txBox="1"/>
          <p:nvPr/>
        </p:nvSpPr>
        <p:spPr>
          <a:xfrm>
            <a:off x="720491" y="2674937"/>
            <a:ext cx="22115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/>
              <a:t>Orden </a:t>
            </a:r>
            <a:r>
              <a:rPr lang="es-CO" sz="1600" dirty="0" err="1"/>
              <a:t>parameter</a:t>
            </a:r>
            <a:r>
              <a:rPr lang="es-CO" sz="1600" dirty="0"/>
              <a:t> </a:t>
            </a:r>
            <a:r>
              <a:rPr lang="es-CO" sz="1600" dirty="0" err="1"/>
              <a:t>for</a:t>
            </a:r>
            <a:r>
              <a:rPr lang="es-CO" sz="1600" dirty="0"/>
              <a:t> a superconductor disk </a:t>
            </a:r>
            <a:r>
              <a:rPr lang="es-CO" sz="1600" dirty="0" err="1"/>
              <a:t>with</a:t>
            </a:r>
            <a:r>
              <a:rPr lang="es-CO" sz="1600" dirty="0"/>
              <a:t> H = 1.1. </a:t>
            </a:r>
          </a:p>
          <a:p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4D770A-F1BC-4554-0B2F-8332B5A77FBE}"/>
              </a:ext>
            </a:extLst>
          </p:cNvPr>
          <p:cNvSpPr/>
          <p:nvPr/>
        </p:nvSpPr>
        <p:spPr>
          <a:xfrm>
            <a:off x="4652937" y="2078894"/>
            <a:ext cx="20361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 II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46815E8-53A3-DE5B-761D-A3976584D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667" y="261540"/>
            <a:ext cx="2036135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5" tooltip="Go to Physica C: Superconductivity and its Applications on ScienceDirect"/>
              </a:rPr>
              <a:t>Physica C: Superconductivity and its Applications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ElsevierSan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6" tooltip="Go to table of contents for this volume/issue"/>
              </a:rPr>
              <a:t>Volume 581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15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February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 2021, 1353818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6529AD8-AEE3-8B3F-8A40-AE0F3997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2632" y="4405683"/>
            <a:ext cx="2211572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5" tooltip="Go to Physica C: Superconductivity and its Applications on ScienceDirect"/>
              </a:rPr>
              <a:t>Physica C: Superconductivity and its Applications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ElsevierSan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7" tooltip="Go to table of contents for this volume/issue"/>
              </a:rPr>
              <a:t>Volume 554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15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November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 2018, Pages 8-14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4903895-26BC-D924-8CF7-F01273E059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336" y="3651858"/>
            <a:ext cx="2319443" cy="123238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72DD4DB-6107-EC46-4433-8DF22F19E366}"/>
              </a:ext>
            </a:extLst>
          </p:cNvPr>
          <p:cNvSpPr txBox="1"/>
          <p:nvPr/>
        </p:nvSpPr>
        <p:spPr>
          <a:xfrm>
            <a:off x="313337" y="5061099"/>
            <a:ext cx="24511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/>
              <a:t>June 2019, </a:t>
            </a:r>
            <a:r>
              <a:rPr lang="es-CO" sz="1400" u="sng" dirty="0">
                <a:hlinkClick r:id="rId9"/>
              </a:rPr>
              <a:t>Journal of Applied Physics</a:t>
            </a:r>
            <a:r>
              <a:rPr lang="es-CO" sz="1400" dirty="0"/>
              <a:t> 125(22):223906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480317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953590-F94E-C656-9EC7-4014A5FC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88" y="224022"/>
            <a:ext cx="6599745" cy="28365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D07690-B50B-42AE-113A-5FF441F0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88" y="3857718"/>
            <a:ext cx="7853964" cy="233902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4DB6529-4BFE-FD44-53B8-9A4458C0E0F9}"/>
              </a:ext>
            </a:extLst>
          </p:cNvPr>
          <p:cNvSpPr txBox="1"/>
          <p:nvPr/>
        </p:nvSpPr>
        <p:spPr>
          <a:xfrm>
            <a:off x="8612659" y="3867665"/>
            <a:ext cx="3225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Figure 10.4: (Color online) </a:t>
            </a:r>
            <a:r>
              <a:rPr lang="es-CO" dirty="0" err="1"/>
              <a:t>Snapshots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logarithm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order</a:t>
            </a:r>
            <a:r>
              <a:rPr lang="es-CO" dirty="0"/>
              <a:t> </a:t>
            </a:r>
            <a:r>
              <a:rPr lang="es-CO" dirty="0" err="1"/>
              <a:t>parameter</a:t>
            </a:r>
            <a:r>
              <a:rPr lang="es-CO" dirty="0"/>
              <a:t>, </a:t>
            </a:r>
            <a:r>
              <a:rPr lang="es-CO" dirty="0" err="1"/>
              <a:t>ln</a:t>
            </a:r>
            <a:r>
              <a:rPr lang="es-CO" dirty="0"/>
              <a:t>|</a:t>
            </a:r>
            <a:r>
              <a:rPr lang="el-GR" dirty="0"/>
              <a:t>ψ| </a:t>
            </a:r>
            <a:r>
              <a:rPr lang="es-CO" dirty="0" err="1"/>
              <a:t>for</a:t>
            </a:r>
            <a:r>
              <a:rPr lang="es-CO" dirty="0"/>
              <a:t> L = 24</a:t>
            </a:r>
            <a:r>
              <a:rPr lang="el-GR" dirty="0"/>
              <a:t>ξ,36ξ,48ξ </a:t>
            </a:r>
            <a:r>
              <a:rPr lang="es-CO" dirty="0"/>
              <a:t>at Ja = 1.74 </a:t>
            </a:r>
            <a:r>
              <a:rPr lang="es-CO" dirty="0" err="1"/>
              <a:t>with</a:t>
            </a:r>
            <a:r>
              <a:rPr lang="es-CO" dirty="0"/>
              <a:t> a </a:t>
            </a:r>
            <a:r>
              <a:rPr lang="es-CO" dirty="0" err="1"/>
              <a:t>number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PLine</a:t>
            </a:r>
            <a:r>
              <a:rPr lang="es-CO" dirty="0"/>
              <a:t> = 3,3,5 </a:t>
            </a:r>
            <a:r>
              <a:rPr lang="es-CO" dirty="0" err="1"/>
              <a:t>phase</a:t>
            </a:r>
            <a:r>
              <a:rPr lang="es-CO" dirty="0"/>
              <a:t> </a:t>
            </a:r>
            <a:r>
              <a:rPr lang="es-CO" dirty="0" err="1"/>
              <a:t>split</a:t>
            </a:r>
            <a:r>
              <a:rPr lang="es-CO" dirty="0"/>
              <a:t> </a:t>
            </a:r>
            <a:r>
              <a:rPr lang="es-CO" dirty="0" err="1"/>
              <a:t>lines</a:t>
            </a:r>
            <a:r>
              <a:rPr lang="es-CO" dirty="0"/>
              <a:t> </a:t>
            </a:r>
            <a:r>
              <a:rPr lang="es-CO" dirty="0" err="1"/>
              <a:t>respectively</a:t>
            </a:r>
            <a:r>
              <a:rPr lang="es-CO" dirty="0"/>
              <a:t> at </a:t>
            </a:r>
            <a:r>
              <a:rPr lang="es-CO" dirty="0" err="1"/>
              <a:t>zero</a:t>
            </a:r>
            <a:r>
              <a:rPr lang="es-CO" dirty="0"/>
              <a:t> </a:t>
            </a:r>
            <a:r>
              <a:rPr lang="es-CO" dirty="0" err="1"/>
              <a:t>magnetic</a:t>
            </a:r>
            <a:r>
              <a:rPr lang="es-CO" dirty="0"/>
              <a:t> </a:t>
            </a:r>
            <a:r>
              <a:rPr lang="es-CO" dirty="0" err="1"/>
              <a:t>field</a:t>
            </a:r>
            <a:r>
              <a:rPr lang="es-CO" dirty="0"/>
              <a:t>. </a:t>
            </a:r>
          </a:p>
          <a:p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B46EC0-A606-2894-389F-EED9A99C5166}"/>
              </a:ext>
            </a:extLst>
          </p:cNvPr>
          <p:cNvSpPr txBox="1"/>
          <p:nvPr/>
        </p:nvSpPr>
        <p:spPr>
          <a:xfrm>
            <a:off x="967562" y="1881894"/>
            <a:ext cx="4391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 err="1"/>
              <a:t>Schematic</a:t>
            </a:r>
            <a:r>
              <a:rPr lang="es-CO" dirty="0"/>
              <a:t> </a:t>
            </a:r>
            <a:r>
              <a:rPr lang="es-CO" dirty="0" err="1"/>
              <a:t>view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studied</a:t>
            </a:r>
            <a:r>
              <a:rPr lang="es-CO" dirty="0"/>
              <a:t> </a:t>
            </a:r>
            <a:r>
              <a:rPr lang="es-CO" dirty="0" err="1"/>
              <a:t>system</a:t>
            </a:r>
            <a:r>
              <a:rPr lang="es-CO" dirty="0"/>
              <a:t>: a </a:t>
            </a:r>
            <a:r>
              <a:rPr lang="es-CO" dirty="0" err="1"/>
              <a:t>strip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length</a:t>
            </a:r>
            <a:r>
              <a:rPr lang="es-CO" dirty="0"/>
              <a:t> L and </a:t>
            </a:r>
            <a:r>
              <a:rPr lang="es-CO" dirty="0" err="1"/>
              <a:t>width</a:t>
            </a:r>
            <a:r>
              <a:rPr lang="es-CO" dirty="0"/>
              <a:t> w;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width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electrodes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a, </a:t>
            </a:r>
            <a:r>
              <a:rPr lang="es-CO" dirty="0" err="1"/>
              <a:t>through</a:t>
            </a:r>
            <a:r>
              <a:rPr lang="es-CO" dirty="0"/>
              <a:t> </a:t>
            </a:r>
            <a:r>
              <a:rPr lang="es-CO" dirty="0" err="1"/>
              <a:t>which</a:t>
            </a:r>
            <a:r>
              <a:rPr lang="es-CO" dirty="0"/>
              <a:t> a </a:t>
            </a:r>
            <a:r>
              <a:rPr lang="es-CO" dirty="0" err="1"/>
              <a:t>uniform</a:t>
            </a:r>
            <a:r>
              <a:rPr lang="es-CO" dirty="0"/>
              <a:t> </a:t>
            </a:r>
            <a:r>
              <a:rPr lang="es-CO" dirty="0" err="1"/>
              <a:t>dc</a:t>
            </a:r>
            <a:r>
              <a:rPr lang="es-CO" dirty="0"/>
              <a:t> </a:t>
            </a:r>
            <a:r>
              <a:rPr lang="es-CO" dirty="0" err="1"/>
              <a:t>current</a:t>
            </a:r>
            <a:r>
              <a:rPr lang="es-CO" dirty="0"/>
              <a:t> </a:t>
            </a:r>
            <a:r>
              <a:rPr lang="es-CO" dirty="0" err="1"/>
              <a:t>density</a:t>
            </a:r>
            <a:r>
              <a:rPr lang="es-CO" dirty="0"/>
              <a:t> Ja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injected</a:t>
            </a:r>
            <a:r>
              <a:rPr lang="es-CO" dirty="0"/>
              <a:t> in </a:t>
            </a:r>
            <a:r>
              <a:rPr lang="es-CO" dirty="0" err="1"/>
              <a:t>presence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an</a:t>
            </a:r>
            <a:r>
              <a:rPr lang="es-CO" dirty="0"/>
              <a:t> </a:t>
            </a:r>
            <a:r>
              <a:rPr lang="es-CO" dirty="0" err="1"/>
              <a:t>external</a:t>
            </a:r>
            <a:r>
              <a:rPr lang="es-CO" dirty="0"/>
              <a:t> </a:t>
            </a:r>
            <a:r>
              <a:rPr lang="es-CO" dirty="0" err="1"/>
              <a:t>magnetic</a:t>
            </a:r>
            <a:r>
              <a:rPr lang="es-CO" dirty="0"/>
              <a:t> </a:t>
            </a:r>
            <a:r>
              <a:rPr lang="es-CO" dirty="0" err="1"/>
              <a:t>field</a:t>
            </a:r>
            <a:r>
              <a:rPr lang="es-CO" dirty="0"/>
              <a:t> H. </a:t>
            </a:r>
          </a:p>
          <a:p>
            <a:endParaRPr lang="es-CO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1DBEDE-BED6-FC78-A6B8-C5F084B1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368" y="228011"/>
            <a:ext cx="302740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4" tooltip="Go to Solid State Communications on ScienceDirect"/>
              </a:rPr>
              <a:t>Solid State Communications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rgbClr val="1F1F1F"/>
              </a:solidFill>
              <a:effectLst/>
              <a:latin typeface="ElsevierSan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5" tooltip="Go to table of contents for this volume/issue"/>
              </a:rPr>
              <a:t>Volume 306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February 2020, 113799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91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B0960F-2C36-CC9C-E402-D776458BC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554" y="516797"/>
            <a:ext cx="5877101" cy="269510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FBAF07-6CC2-8806-81B3-6D0AFEADE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275" y="2539162"/>
            <a:ext cx="4568568" cy="328253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4116FAC-569E-D436-2C22-CDBB781D3CE0}"/>
              </a:ext>
            </a:extLst>
          </p:cNvPr>
          <p:cNvSpPr txBox="1"/>
          <p:nvPr/>
        </p:nvSpPr>
        <p:spPr>
          <a:xfrm>
            <a:off x="877329" y="3595817"/>
            <a:ext cx="513006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/>
              <a:t>A </a:t>
            </a:r>
            <a:r>
              <a:rPr lang="es-CO" sz="1400" dirty="0" err="1"/>
              <a:t>schematic</a:t>
            </a:r>
            <a:r>
              <a:rPr lang="es-CO" sz="1400" dirty="0"/>
              <a:t> </a:t>
            </a:r>
            <a:r>
              <a:rPr lang="es-CO" sz="1400" dirty="0" err="1"/>
              <a:t>representation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: In </a:t>
            </a:r>
            <a:r>
              <a:rPr lang="es-CO" sz="1400" dirty="0" err="1"/>
              <a:t>green</a:t>
            </a:r>
            <a:r>
              <a:rPr lang="es-CO" sz="1400" dirty="0"/>
              <a:t>, </a:t>
            </a:r>
            <a:r>
              <a:rPr lang="es-CO" sz="1400" dirty="0" err="1"/>
              <a:t>the</a:t>
            </a:r>
            <a:r>
              <a:rPr lang="es-CO" sz="1400" dirty="0"/>
              <a:t> superconductor </a:t>
            </a:r>
            <a:r>
              <a:rPr lang="es-CO" sz="1400" dirty="0" err="1"/>
              <a:t>sample</a:t>
            </a:r>
            <a:r>
              <a:rPr lang="es-CO" sz="1400" dirty="0"/>
              <a:t>, in red and blue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metallic</a:t>
            </a:r>
            <a:r>
              <a:rPr lang="es-CO" sz="1400" dirty="0"/>
              <a:t> </a:t>
            </a:r>
            <a:r>
              <a:rPr lang="es-CO" sz="1400" dirty="0" err="1"/>
              <a:t>electrodes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dimensions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 are: c=</a:t>
            </a:r>
            <a:r>
              <a:rPr lang="el-GR" dirty="0"/>
              <a:t>ξ</a:t>
            </a:r>
            <a:r>
              <a:rPr lang="es-CO" sz="1400" dirty="0"/>
              <a:t>(0), b = 3.2</a:t>
            </a:r>
            <a:r>
              <a:rPr lang="el-GR" dirty="0"/>
              <a:t>ξ</a:t>
            </a:r>
            <a:r>
              <a:rPr lang="es-CO" sz="1400" dirty="0"/>
              <a:t>(0), R = 0.6</a:t>
            </a:r>
            <a:r>
              <a:rPr lang="el-GR" dirty="0"/>
              <a:t>ξ </a:t>
            </a:r>
            <a:r>
              <a:rPr lang="es-CO" sz="1400" dirty="0"/>
              <a:t>(0), </a:t>
            </a:r>
            <a:r>
              <a:rPr lang="es-CO" sz="1400" dirty="0" err="1"/>
              <a:t>while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side</a:t>
            </a:r>
            <a:r>
              <a:rPr lang="es-CO" sz="1400" dirty="0"/>
              <a:t> </a:t>
            </a:r>
            <a:r>
              <a:rPr lang="es-CO" sz="1400" dirty="0" err="1"/>
              <a:t>length</a:t>
            </a:r>
            <a:r>
              <a:rPr lang="es-CO" sz="1400" dirty="0"/>
              <a:t> a </a:t>
            </a:r>
            <a:r>
              <a:rPr lang="es-CO" sz="1400" dirty="0" err="1"/>
              <a:t>is</a:t>
            </a:r>
            <a:r>
              <a:rPr lang="es-CO" sz="1400" dirty="0"/>
              <a:t> </a:t>
            </a:r>
            <a:r>
              <a:rPr lang="es-CO" sz="1400" dirty="0" err="1"/>
              <a:t>varied</a:t>
            </a:r>
            <a:r>
              <a:rPr lang="es-CO" sz="1400" dirty="0"/>
              <a:t> </a:t>
            </a:r>
            <a:r>
              <a:rPr lang="es-CO" sz="1400" dirty="0" err="1"/>
              <a:t>throughout</a:t>
            </a:r>
            <a:r>
              <a:rPr lang="es-CO" sz="1400" dirty="0"/>
              <a:t> </a:t>
            </a:r>
            <a:r>
              <a:rPr lang="es-CO" sz="1400" dirty="0" err="1"/>
              <a:t>this</a:t>
            </a:r>
            <a:r>
              <a:rPr lang="es-CO" sz="1400" dirty="0"/>
              <a:t> </a:t>
            </a:r>
            <a:r>
              <a:rPr lang="es-CO" sz="1400" dirty="0" err="1"/>
              <a:t>work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radial </a:t>
            </a:r>
            <a:r>
              <a:rPr lang="es-CO" sz="1400" dirty="0" err="1"/>
              <a:t>defect</a:t>
            </a:r>
            <a:r>
              <a:rPr lang="es-CO" sz="1400" dirty="0"/>
              <a:t> can be </a:t>
            </a:r>
            <a:r>
              <a:rPr lang="es-CO" sz="1400" dirty="0" err="1"/>
              <a:t>expressed</a:t>
            </a:r>
            <a:r>
              <a:rPr lang="es-CO" sz="1400" dirty="0"/>
              <a:t> </a:t>
            </a:r>
            <a:r>
              <a:rPr lang="es-CO" sz="1400" dirty="0" err="1"/>
              <a:t>with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function</a:t>
            </a:r>
            <a:r>
              <a:rPr lang="es-CO" sz="1400" dirty="0"/>
              <a:t> $r(\theta) = R + r_0\sin(\omega_0 \theta)$, </a:t>
            </a:r>
            <a:r>
              <a:rPr lang="es-CO" sz="1400" dirty="0" err="1"/>
              <a:t>with</a:t>
            </a:r>
            <a:r>
              <a:rPr lang="es-CO" sz="1400" dirty="0"/>
              <a:t> </a:t>
            </a:r>
            <a:r>
              <a:rPr lang="es-CO" sz="1400" dirty="0" err="1"/>
              <a:t>parameters</a:t>
            </a:r>
            <a:r>
              <a:rPr lang="es-CO" sz="1400" dirty="0"/>
              <a:t> $r_0 = 0.1 \, \xi(0)$ and $\omega_0= 45/\xi(0)$, and $\theta$ </a:t>
            </a:r>
            <a:r>
              <a:rPr lang="es-CO" sz="1400" dirty="0" err="1"/>
              <a:t>is</a:t>
            </a:r>
            <a:r>
              <a:rPr lang="es-CO" sz="1400" dirty="0"/>
              <a:t> </a:t>
            </a:r>
            <a:r>
              <a:rPr lang="es-CO" sz="1400" dirty="0" err="1"/>
              <a:t>measured</a:t>
            </a:r>
            <a:r>
              <a:rPr lang="es-CO" sz="1400" dirty="0"/>
              <a:t> </a:t>
            </a:r>
            <a:r>
              <a:rPr lang="es-CO" sz="1400" dirty="0" err="1"/>
              <a:t>from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center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semicircle</a:t>
            </a:r>
            <a:endParaRPr lang="es-CO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B6D3F3-D038-5EBC-13ED-07965FAD4B8C}"/>
              </a:ext>
            </a:extLst>
          </p:cNvPr>
          <p:cNvSpPr txBox="1"/>
          <p:nvPr/>
        </p:nvSpPr>
        <p:spPr>
          <a:xfrm>
            <a:off x="7723256" y="1369611"/>
            <a:ext cx="3951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Scalar</a:t>
            </a:r>
            <a:r>
              <a:rPr lang="es-CO" sz="1400" dirty="0"/>
              <a:t> </a:t>
            </a:r>
            <a:r>
              <a:rPr lang="es-CO" sz="1400" dirty="0" err="1"/>
              <a:t>potential</a:t>
            </a:r>
            <a:r>
              <a:rPr lang="es-CO" sz="1400" dirty="0"/>
              <a:t> (V) </a:t>
            </a:r>
            <a:r>
              <a:rPr lang="es-CO" sz="1400" dirty="0" err="1"/>
              <a:t>obtained</a:t>
            </a:r>
            <a:r>
              <a:rPr lang="es-CO" sz="1400" dirty="0"/>
              <a:t> in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 </a:t>
            </a:r>
            <a:r>
              <a:rPr lang="es-CO" sz="1400" dirty="0" err="1"/>
              <a:t>from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</a:t>
            </a:r>
            <a:r>
              <a:rPr lang="es-CO" sz="1400" dirty="0" err="1"/>
              <a:t>currents</a:t>
            </a:r>
            <a:r>
              <a:rPr lang="es-CO" sz="1400" dirty="0"/>
              <a:t> J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different</a:t>
            </a:r>
            <a:r>
              <a:rPr lang="es-CO" sz="1400" dirty="0"/>
              <a:t> </a:t>
            </a:r>
            <a:r>
              <a:rPr lang="es-CO" sz="1400" dirty="0" err="1"/>
              <a:t>values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(H).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value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bridge </a:t>
            </a:r>
            <a:r>
              <a:rPr lang="es-CO" sz="1400" dirty="0" err="1"/>
              <a:t>width</a:t>
            </a:r>
            <a:r>
              <a:rPr lang="es-CO" sz="1400" dirty="0"/>
              <a:t> </a:t>
            </a:r>
            <a:r>
              <a:rPr lang="es-CO" sz="1400" dirty="0" err="1"/>
              <a:t>corresponds</a:t>
            </a:r>
            <a:r>
              <a:rPr lang="es-CO" sz="1400" dirty="0"/>
              <a:t> </a:t>
            </a:r>
            <a:r>
              <a:rPr lang="es-CO" sz="1400" dirty="0" err="1"/>
              <a:t>to</a:t>
            </a:r>
            <a:r>
              <a:rPr lang="es-CO" sz="1400" dirty="0"/>
              <a:t> d= 0.27 </a:t>
            </a:r>
            <a:r>
              <a:rPr lang="el-GR" dirty="0"/>
              <a:t>ξ</a:t>
            </a:r>
            <a:r>
              <a:rPr lang="es-CO" sz="1400" dirty="0"/>
              <a:t>(0). </a:t>
            </a:r>
          </a:p>
        </p:txBody>
      </p:sp>
    </p:spTree>
    <p:extLst>
      <p:ext uri="{BB962C8B-B14F-4D97-AF65-F5344CB8AC3E}">
        <p14:creationId xmlns:p14="http://schemas.microsoft.com/office/powerpoint/2010/main" val="323665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9BDD72C-FE6C-F10F-667B-95E67FF39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0" y="113880"/>
            <a:ext cx="3701832" cy="588927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EF2D7E-03FB-DBC9-1E99-6ECE59F7D090}"/>
              </a:ext>
            </a:extLst>
          </p:cNvPr>
          <p:cNvSpPr txBox="1"/>
          <p:nvPr/>
        </p:nvSpPr>
        <p:spPr>
          <a:xfrm>
            <a:off x="4803228" y="470797"/>
            <a:ext cx="5623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Cooper </a:t>
            </a:r>
            <a:r>
              <a:rPr lang="es-CO" dirty="0" err="1"/>
              <a:t>pair</a:t>
            </a:r>
            <a:r>
              <a:rPr lang="es-CO" dirty="0"/>
              <a:t> </a:t>
            </a:r>
            <a:r>
              <a:rPr lang="es-CO" dirty="0" err="1"/>
              <a:t>density</a:t>
            </a:r>
            <a:r>
              <a:rPr lang="es-CO" dirty="0"/>
              <a:t> ($|\psi|^{2}$) and </a:t>
            </a:r>
            <a:r>
              <a:rPr lang="es-CO" dirty="0" err="1"/>
              <a:t>phase</a:t>
            </a:r>
            <a:r>
              <a:rPr lang="es-CO" dirty="0"/>
              <a:t> </a:t>
            </a:r>
            <a:r>
              <a:rPr lang="es-CO" dirty="0" err="1"/>
              <a:t>difference</a:t>
            </a:r>
            <a:r>
              <a:rPr lang="es-CO" dirty="0"/>
              <a:t>  </a:t>
            </a:r>
            <a:r>
              <a:rPr lang="es-CO" dirty="0" err="1"/>
              <a:t>on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superconducting</a:t>
            </a:r>
            <a:r>
              <a:rPr lang="es-CO" dirty="0"/>
              <a:t> </a:t>
            </a:r>
            <a:r>
              <a:rPr lang="es-CO" dirty="0" err="1"/>
              <a:t>device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J=0mA and d=0.4</a:t>
            </a:r>
            <a:r>
              <a:rPr lang="el-GR" dirty="0"/>
              <a:t>ξ</a:t>
            </a:r>
            <a:r>
              <a:rPr lang="es-ES" dirty="0"/>
              <a:t>(0)</a:t>
            </a:r>
            <a:r>
              <a:rPr lang="el-GR" dirty="0"/>
              <a:t> </a:t>
            </a:r>
            <a:r>
              <a:rPr lang="es-CO" dirty="0"/>
              <a:t>, as a </a:t>
            </a: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external</a:t>
            </a:r>
            <a:r>
              <a:rPr lang="es-CO" dirty="0"/>
              <a:t> </a:t>
            </a:r>
            <a:r>
              <a:rPr lang="es-CO" dirty="0" err="1"/>
              <a:t>applied</a:t>
            </a:r>
            <a:r>
              <a:rPr lang="es-CO" dirty="0"/>
              <a:t> </a:t>
            </a:r>
            <a:r>
              <a:rPr lang="es-CO" dirty="0" err="1"/>
              <a:t>magnetic</a:t>
            </a:r>
            <a:r>
              <a:rPr lang="es-CO" dirty="0"/>
              <a:t> </a:t>
            </a:r>
            <a:r>
              <a:rPr lang="es-CO" dirty="0" err="1"/>
              <a:t>field</a:t>
            </a:r>
            <a:r>
              <a:rPr lang="es-CO" dirty="0"/>
              <a:t> H.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D5E7E89-CD21-FBBC-7E1F-1F294D7E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983" y="1671126"/>
            <a:ext cx="3395330" cy="417042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97744F7-4245-EB7F-CECE-CA9806A81FCF}"/>
              </a:ext>
            </a:extLst>
          </p:cNvPr>
          <p:cNvSpPr txBox="1"/>
          <p:nvPr/>
        </p:nvSpPr>
        <p:spPr>
          <a:xfrm>
            <a:off x="5124894" y="3256227"/>
            <a:ext cx="28814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Magnitude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first</a:t>
            </a:r>
            <a:r>
              <a:rPr lang="es-CO" sz="1600" dirty="0"/>
              <a:t> </a:t>
            </a:r>
            <a:r>
              <a:rPr lang="es-CO" sz="1600" dirty="0" err="1"/>
              <a:t>critical</a:t>
            </a:r>
            <a:r>
              <a:rPr lang="es-CO" sz="1600" dirty="0"/>
              <a:t> (</a:t>
            </a:r>
            <a:r>
              <a:rPr lang="es-CO" sz="1600" dirty="0" err="1"/>
              <a:t>First</a:t>
            </a:r>
            <a:r>
              <a:rPr lang="es-CO" sz="1600" dirty="0"/>
              <a:t> Shapiro step) </a:t>
            </a:r>
            <a:r>
              <a:rPr lang="es-CO" sz="1600" dirty="0" err="1"/>
              <a:t>currents</a:t>
            </a:r>
            <a:r>
              <a:rPr lang="es-CO" sz="1600" dirty="0"/>
              <a:t> </a:t>
            </a:r>
            <a:r>
              <a:rPr lang="es-CO" sz="1600" dirty="0" err="1"/>
              <a:t>with</a:t>
            </a:r>
            <a:r>
              <a:rPr lang="es-CO" sz="1600" dirty="0"/>
              <a:t> </a:t>
            </a:r>
            <a:r>
              <a:rPr lang="es-CO" sz="1600" dirty="0" err="1"/>
              <a:t>opposite</a:t>
            </a:r>
            <a:r>
              <a:rPr lang="es-CO" sz="1600" dirty="0"/>
              <a:t> </a:t>
            </a:r>
            <a:r>
              <a:rPr lang="es-CO" sz="1600" dirty="0" err="1"/>
              <a:t>polarization</a:t>
            </a:r>
            <a:r>
              <a:rPr lang="es-CO" sz="1600" dirty="0"/>
              <a:t> as a </a:t>
            </a:r>
            <a:r>
              <a:rPr lang="es-CO" sz="1600" dirty="0" err="1"/>
              <a:t>function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applied</a:t>
            </a:r>
            <a:r>
              <a:rPr lang="es-CO" sz="1600" dirty="0"/>
              <a:t> </a:t>
            </a:r>
            <a:r>
              <a:rPr lang="es-CO" sz="1600" dirty="0" err="1"/>
              <a:t>magnetic</a:t>
            </a:r>
            <a:r>
              <a:rPr lang="es-CO" sz="1600" dirty="0"/>
              <a:t> </a:t>
            </a:r>
            <a:r>
              <a:rPr lang="es-CO" sz="1600" dirty="0" err="1"/>
              <a:t>field</a:t>
            </a:r>
            <a:r>
              <a:rPr lang="es-CO" sz="1600" dirty="0"/>
              <a:t>. (b) </a:t>
            </a:r>
            <a:r>
              <a:rPr lang="es-CO" sz="1600" dirty="0" err="1"/>
              <a:t>Efficiency</a:t>
            </a:r>
            <a:r>
              <a:rPr lang="es-CO" sz="1600" dirty="0"/>
              <a:t> factor </a:t>
            </a:r>
            <a:r>
              <a:rPr lang="el-GR" sz="1600" dirty="0"/>
              <a:t>γ (</a:t>
            </a:r>
            <a:r>
              <a:rPr lang="es-CO" sz="1600" dirty="0"/>
              <a:t>H ) as a </a:t>
            </a:r>
            <a:r>
              <a:rPr lang="es-CO" sz="1600" dirty="0" err="1"/>
              <a:t>function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applied</a:t>
            </a:r>
            <a:r>
              <a:rPr lang="es-CO" sz="1600" dirty="0"/>
              <a:t> </a:t>
            </a:r>
            <a:r>
              <a:rPr lang="es-CO" sz="1600" dirty="0" err="1"/>
              <a:t>magnetic</a:t>
            </a:r>
            <a:r>
              <a:rPr lang="es-CO" sz="1600" dirty="0"/>
              <a:t> </a:t>
            </a:r>
            <a:r>
              <a:rPr lang="es-CO" sz="1600" dirty="0" err="1"/>
              <a:t>field</a:t>
            </a:r>
            <a:r>
              <a:rPr lang="es-CO" sz="1600" dirty="0"/>
              <a:t> H, </a:t>
            </a:r>
            <a:r>
              <a:rPr lang="es-CO" sz="1600" dirty="0" err="1"/>
              <a:t>for</a:t>
            </a:r>
            <a:r>
              <a:rPr lang="es-CO" sz="1600" dirty="0"/>
              <a:t> a </a:t>
            </a:r>
            <a:r>
              <a:rPr lang="es-CO" sz="1600" dirty="0" err="1"/>
              <a:t>fixed</a:t>
            </a:r>
            <a:r>
              <a:rPr lang="es-CO" sz="1600" dirty="0"/>
              <a:t> </a:t>
            </a:r>
            <a:r>
              <a:rPr lang="es-CO" sz="1600" dirty="0" err="1"/>
              <a:t>value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d = 0.27 </a:t>
            </a:r>
            <a:r>
              <a:rPr lang="el-GR" sz="1600" dirty="0"/>
              <a:t>ξ(0).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1477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1C71F7-198C-18E2-9C2C-28BFF96B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43" y="635344"/>
            <a:ext cx="4271325" cy="30469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883B0A-7F8C-18E2-DA14-513F8A36A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2" y="2641771"/>
            <a:ext cx="4193060" cy="34337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1764099-3CB6-C189-CC87-5F501451ADD9}"/>
              </a:ext>
            </a:extLst>
          </p:cNvPr>
          <p:cNvSpPr txBox="1"/>
          <p:nvPr/>
        </p:nvSpPr>
        <p:spPr>
          <a:xfrm>
            <a:off x="774453" y="179028"/>
            <a:ext cx="46832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Diode</a:t>
            </a:r>
            <a:r>
              <a:rPr lang="es-CO" sz="1400" dirty="0"/>
              <a:t> </a:t>
            </a:r>
            <a:r>
              <a:rPr lang="es-CO" sz="1400" dirty="0" err="1"/>
              <a:t>efficiency</a:t>
            </a:r>
            <a:r>
              <a:rPr lang="es-CO" sz="1400" dirty="0"/>
              <a:t> $\gamma_{d}H$ as a </a:t>
            </a:r>
            <a:r>
              <a:rPr lang="es-CO" sz="1400" dirty="0" err="1"/>
              <a:t>function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Ginzburg–Landau </a:t>
            </a:r>
            <a:r>
              <a:rPr lang="es-CO" sz="1400" dirty="0" err="1"/>
              <a:t>parameter</a:t>
            </a:r>
            <a:r>
              <a:rPr lang="es-CO" sz="1400" dirty="0"/>
              <a:t> $\kappa$,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fixed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</a:t>
            </a:r>
            <a:r>
              <a:rPr lang="es-CO" sz="1400" dirty="0" err="1"/>
              <a:t>values</a:t>
            </a:r>
            <a:r>
              <a:rPr lang="es-CO" sz="1400" dirty="0"/>
              <a:t> H [1.0,\, 1.4] (in </a:t>
            </a:r>
            <a:r>
              <a:rPr lang="es-CO" sz="1400" dirty="0" err="1"/>
              <a:t>steps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$0.1$), in a </a:t>
            </a:r>
            <a:r>
              <a:rPr lang="es-CO" sz="1400" dirty="0" err="1"/>
              <a:t>mesoscopic</a:t>
            </a:r>
            <a:r>
              <a:rPr lang="es-CO" sz="1400" dirty="0"/>
              <a:t> </a:t>
            </a:r>
            <a:r>
              <a:rPr lang="es-CO" sz="1400" dirty="0" err="1"/>
              <a:t>superconducting</a:t>
            </a:r>
            <a:r>
              <a:rPr lang="es-CO" sz="1400" dirty="0"/>
              <a:t> </a:t>
            </a:r>
            <a:r>
              <a:rPr lang="es-CO" sz="1400" dirty="0" err="1"/>
              <a:t>wedge</a:t>
            </a:r>
            <a:r>
              <a:rPr lang="es-CO" sz="1400" dirty="0"/>
              <a:t> </a:t>
            </a:r>
            <a:r>
              <a:rPr lang="es-CO" sz="1400" dirty="0" err="1"/>
              <a:t>acting</a:t>
            </a:r>
            <a:r>
              <a:rPr lang="es-CO" sz="1400" dirty="0"/>
              <a:t> as a </a:t>
            </a:r>
            <a:r>
              <a:rPr lang="es-CO" sz="1400" dirty="0" err="1"/>
              <a:t>potential</a:t>
            </a:r>
            <a:r>
              <a:rPr lang="es-CO" sz="1400" dirty="0"/>
              <a:t> </a:t>
            </a:r>
            <a:r>
              <a:rPr lang="es-CO" sz="1400" dirty="0" err="1"/>
              <a:t>diode</a:t>
            </a:r>
            <a:r>
              <a:rPr lang="es-CO" sz="1400" dirty="0"/>
              <a:t>. As </a:t>
            </a:r>
            <a:r>
              <a:rPr lang="es-CO" sz="1400" dirty="0" err="1"/>
              <a:t>the</a:t>
            </a:r>
            <a:r>
              <a:rPr lang="es-CO" sz="1400" dirty="0"/>
              <a:t> H </a:t>
            </a:r>
            <a:r>
              <a:rPr lang="es-CO" sz="1400" dirty="0" err="1"/>
              <a:t>increases</a:t>
            </a:r>
            <a:r>
              <a:rPr lang="es-CO" sz="1400" dirty="0"/>
              <a:t>, </a:t>
            </a:r>
            <a:r>
              <a:rPr lang="es-CO" sz="1400" dirty="0" err="1"/>
              <a:t>the</a:t>
            </a:r>
            <a:r>
              <a:rPr lang="es-CO" sz="1400" dirty="0"/>
              <a:t> $\gamma_(d)H </a:t>
            </a:r>
            <a:r>
              <a:rPr lang="es-CO" sz="1400" dirty="0" err="1"/>
              <a:t>dedecreases</a:t>
            </a:r>
            <a:r>
              <a:rPr lang="es-CO" sz="1400" dirty="0"/>
              <a:t>, and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sufficiently</a:t>
            </a:r>
            <a:r>
              <a:rPr lang="es-CO" sz="1400" dirty="0"/>
              <a:t> </a:t>
            </a:r>
            <a:r>
              <a:rPr lang="es-CO" sz="1400" dirty="0" err="1"/>
              <a:t>large</a:t>
            </a:r>
            <a:r>
              <a:rPr lang="es-CO" sz="1400" dirty="0"/>
              <a:t> </a:t>
            </a:r>
            <a:r>
              <a:rPr lang="es-CO" sz="1400" dirty="0" err="1"/>
              <a:t>values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H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diode</a:t>
            </a:r>
            <a:r>
              <a:rPr lang="es-CO" sz="1400" dirty="0"/>
              <a:t> </a:t>
            </a:r>
            <a:r>
              <a:rPr lang="es-CO" sz="1400" dirty="0" err="1"/>
              <a:t>effect</a:t>
            </a:r>
            <a:r>
              <a:rPr lang="es-CO" sz="1400" dirty="0"/>
              <a:t> </a:t>
            </a:r>
            <a:r>
              <a:rPr lang="es-CO" sz="1400" dirty="0" err="1"/>
              <a:t>vanishes</a:t>
            </a:r>
            <a:r>
              <a:rPr lang="es-CO" sz="1400" dirty="0"/>
              <a:t>, i.e., $\</a:t>
            </a:r>
            <a:r>
              <a:rPr lang="es-CO" sz="1400" dirty="0" err="1"/>
              <a:t>gammad</a:t>
            </a:r>
            <a:r>
              <a:rPr lang="es-CO" sz="1400" dirty="0"/>
              <a:t>)</a:t>
            </a:r>
            <a:r>
              <a:rPr lang="es-CO" sz="1400" dirty="0" err="1"/>
              <a:t>Hfor</a:t>
            </a:r>
            <a:r>
              <a:rPr lang="es-CO" sz="1400" dirty="0"/>
              <a:t> </a:t>
            </a:r>
            <a:r>
              <a:rPr lang="es-CO" sz="1400" dirty="0" err="1"/>
              <a:t>all</a:t>
            </a:r>
            <a:r>
              <a:rPr lang="es-CO" sz="1400" dirty="0"/>
              <a:t> 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32EECDA-FE39-DA90-CE51-6D611F1E8190}"/>
              </a:ext>
            </a:extLst>
          </p:cNvPr>
          <p:cNvSpPr txBox="1"/>
          <p:nvPr/>
        </p:nvSpPr>
        <p:spPr>
          <a:xfrm>
            <a:off x="6746790" y="3828778"/>
            <a:ext cx="4448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/>
              <a:t>(a) </a:t>
            </a:r>
            <a:r>
              <a:rPr lang="es-CO" sz="1400" dirty="0" err="1"/>
              <a:t>Schematic</a:t>
            </a:r>
            <a:r>
              <a:rPr lang="es-CO" sz="1400" dirty="0"/>
              <a:t> </a:t>
            </a:r>
            <a:r>
              <a:rPr lang="es-CO" sz="1400" dirty="0" err="1"/>
              <a:t>representation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superconducting</a:t>
            </a:r>
            <a:r>
              <a:rPr lang="es-CO" sz="1400" dirty="0"/>
              <a:t> meso-</a:t>
            </a:r>
            <a:r>
              <a:rPr lang="es-CO" sz="1400" dirty="0" err="1"/>
              <a:t>wedge</a:t>
            </a:r>
            <a:r>
              <a:rPr lang="es-CO" sz="1400" dirty="0"/>
              <a:t> </a:t>
            </a:r>
            <a:r>
              <a:rPr lang="es-CO" sz="1400" dirty="0" err="1"/>
              <a:t>geometry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dimensions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numerical</a:t>
            </a:r>
            <a:r>
              <a:rPr lang="es-CO" sz="1400" dirty="0"/>
              <a:t> </a:t>
            </a:r>
            <a:r>
              <a:rPr lang="es-CO" sz="1400" dirty="0" err="1"/>
              <a:t>mesh</a:t>
            </a:r>
            <a:r>
              <a:rPr lang="es-CO" sz="1400" dirty="0"/>
              <a:t> are A=30</a:t>
            </a:r>
            <a:r>
              <a:rPr lang="el-GR" dirty="0"/>
              <a:t>ξ</a:t>
            </a:r>
            <a:r>
              <a:rPr lang="es-ES" dirty="0"/>
              <a:t>(0)</a:t>
            </a:r>
            <a:r>
              <a:rPr lang="es-CO" sz="1400" dirty="0"/>
              <a:t>, B=C=15</a:t>
            </a:r>
            <a:r>
              <a:rPr lang="el-GR" dirty="0"/>
              <a:t>ξ</a:t>
            </a:r>
            <a:r>
              <a:rPr lang="es-ES" dirty="0"/>
              <a:t>(0)</a:t>
            </a:r>
            <a:r>
              <a:rPr lang="es-CO" sz="1400" dirty="0"/>
              <a:t>. (b) Real </a:t>
            </a:r>
            <a:r>
              <a:rPr lang="es-CO" sz="1400" dirty="0" err="1"/>
              <a:t>three</a:t>
            </a:r>
            <a:r>
              <a:rPr lang="es-CO" sz="1400" dirty="0"/>
              <a:t>-dimensional </a:t>
            </a:r>
            <a:r>
              <a:rPr lang="es-CO" sz="1400" dirty="0" err="1"/>
              <a:t>superconducting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 </a:t>
            </a:r>
            <a:r>
              <a:rPr lang="es-CO" sz="1400" dirty="0" err="1"/>
              <a:t>with</a:t>
            </a:r>
            <a:r>
              <a:rPr lang="es-CO" sz="1400" dirty="0"/>
              <a:t> meso-</a:t>
            </a:r>
            <a:r>
              <a:rPr lang="es-CO" sz="1400" dirty="0" err="1"/>
              <a:t>wedge</a:t>
            </a:r>
            <a:r>
              <a:rPr lang="es-CO" sz="1400" dirty="0"/>
              <a:t> </a:t>
            </a:r>
            <a:r>
              <a:rPr lang="es-CO" sz="1400" dirty="0" err="1"/>
              <a:t>geometry</a:t>
            </a:r>
            <a:r>
              <a:rPr lang="es-CO" sz="1400" dirty="0"/>
              <a:t> and </a:t>
            </a:r>
            <a:r>
              <a:rPr lang="es-CO" sz="1400" dirty="0" err="1"/>
              <a:t>its</a:t>
            </a:r>
            <a:r>
              <a:rPr lang="es-CO" sz="1400" dirty="0"/>
              <a:t> </a:t>
            </a:r>
            <a:r>
              <a:rPr lang="es-CO" sz="1400" dirty="0" err="1"/>
              <a:t>projection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$n$-</a:t>
            </a:r>
            <a:r>
              <a:rPr lang="es-CO" sz="1400" dirty="0" err="1"/>
              <a:t>layers</a:t>
            </a:r>
            <a:r>
              <a:rPr lang="es-CO" sz="1400" dirty="0"/>
              <a:t>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superconducting</a:t>
            </a:r>
            <a:r>
              <a:rPr lang="es-CO" sz="1400" dirty="0"/>
              <a:t> meso-</a:t>
            </a:r>
            <a:r>
              <a:rPr lang="es-CO" sz="1400" dirty="0" err="1"/>
              <a:t>wedge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inclusion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/</a:t>
            </a:r>
            <a:r>
              <a:rPr lang="es-CO" sz="1400" dirty="0" err="1"/>
              <a:t>transport</a:t>
            </a:r>
            <a:r>
              <a:rPr lang="es-CO" sz="1400" dirty="0"/>
              <a:t> </a:t>
            </a:r>
            <a:r>
              <a:rPr lang="es-CO" sz="1400" dirty="0" err="1"/>
              <a:t>currents</a:t>
            </a:r>
            <a:r>
              <a:rPr lang="es-CO" sz="1400" dirty="0"/>
              <a:t> J-in x-</a:t>
            </a:r>
            <a:r>
              <a:rPr lang="es-CO" sz="1400" dirty="0" err="1"/>
              <a:t>direction</a:t>
            </a:r>
            <a:r>
              <a:rPr lang="es-CO" sz="1400" dirty="0"/>
              <a:t>- </a:t>
            </a:r>
            <a:r>
              <a:rPr lang="es-CO" sz="1400" dirty="0" err="1"/>
              <a:t>is</a:t>
            </a:r>
            <a:r>
              <a:rPr lang="es-CO" sz="1400" dirty="0"/>
              <a:t> </a:t>
            </a:r>
            <a:r>
              <a:rPr lang="es-CO" sz="1400" dirty="0" err="1"/>
              <a:t>given</a:t>
            </a:r>
            <a:r>
              <a:rPr lang="es-CO" sz="1400" dirty="0"/>
              <a:t> </a:t>
            </a:r>
            <a:r>
              <a:rPr lang="es-CO" sz="1400" dirty="0" err="1"/>
              <a:t>by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lateral faces $\</a:t>
            </a:r>
            <a:r>
              <a:rPr lang="es-CO" sz="1400" dirty="0" err="1"/>
              <a:t>partial</a:t>
            </a:r>
            <a:r>
              <a:rPr lang="es-CO" sz="1400" dirty="0"/>
              <a:t> \Omega_{i}$, $i=1,2$,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(${ \</a:t>
            </a:r>
            <a:r>
              <a:rPr lang="es-CO" sz="1400" dirty="0" err="1"/>
              <a:t>mathbf</a:t>
            </a:r>
            <a:r>
              <a:rPr lang="es-CO" sz="1400" dirty="0"/>
              <a:t>{H}=\</a:t>
            </a:r>
            <a:r>
              <a:rPr lang="es-CO" sz="1400" dirty="0" err="1"/>
              <a:t>bf</a:t>
            </a:r>
            <a:r>
              <a:rPr lang="es-CO" sz="1400" dirty="0"/>
              <a:t> H_{z}}$) </a:t>
            </a:r>
            <a:r>
              <a:rPr lang="es-CO" sz="1400" dirty="0" err="1"/>
              <a:t>is</a:t>
            </a:r>
            <a:r>
              <a:rPr lang="es-CO" sz="1400" dirty="0"/>
              <a:t> in </a:t>
            </a:r>
            <a:r>
              <a:rPr lang="es-CO" sz="1400" dirty="0" err="1"/>
              <a:t>the</a:t>
            </a:r>
            <a:r>
              <a:rPr lang="es-CO" sz="1400" dirty="0"/>
              <a:t> $\</a:t>
            </a:r>
            <a:r>
              <a:rPr lang="es-CO" sz="1400" dirty="0" err="1"/>
              <a:t>hat</a:t>
            </a:r>
            <a:r>
              <a:rPr lang="es-CO" sz="1400" dirty="0"/>
              <a:t>{z}$-</a:t>
            </a:r>
            <a:r>
              <a:rPr lang="es-CO" sz="1400" dirty="0" err="1"/>
              <a:t>direction</a:t>
            </a:r>
            <a:r>
              <a:rPr lang="es-CO" sz="1400" dirty="0"/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F40741-1013-485A-5912-9448BAA5D8F7}"/>
              </a:ext>
            </a:extLst>
          </p:cNvPr>
          <p:cNvSpPr txBox="1"/>
          <p:nvPr/>
        </p:nvSpPr>
        <p:spPr>
          <a:xfrm>
            <a:off x="4920268" y="3181346"/>
            <a:ext cx="268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u="sng" dirty="0" err="1">
                <a:solidFill>
                  <a:srgbClr val="FF0000"/>
                </a:solidFill>
              </a:rPr>
              <a:t>SciPost</a:t>
            </a:r>
            <a:r>
              <a:rPr lang="es-CO" sz="1200" u="sng" dirty="0">
                <a:solidFill>
                  <a:srgbClr val="FF0000"/>
                </a:solidFill>
              </a:rPr>
              <a:t> </a:t>
            </a:r>
            <a:r>
              <a:rPr lang="es-CO" sz="1200" u="sng" dirty="0" err="1">
                <a:solidFill>
                  <a:srgbClr val="FF0000"/>
                </a:solidFill>
              </a:rPr>
              <a:t>Phys</a:t>
            </a:r>
            <a:r>
              <a:rPr lang="es-CO" sz="1200" u="sng" dirty="0">
                <a:solidFill>
                  <a:srgbClr val="FF0000"/>
                </a:solidFill>
              </a:rPr>
              <a:t>. Core 9, 006 (2026), </a:t>
            </a:r>
            <a:r>
              <a:rPr lang="es-CO" sz="1200" u="sng" dirty="0" err="1">
                <a:solidFill>
                  <a:srgbClr val="FF0000"/>
                </a:solidFill>
              </a:rPr>
              <a:t>published</a:t>
            </a:r>
            <a:r>
              <a:rPr lang="es-CO" sz="1200" u="sng" dirty="0">
                <a:solidFill>
                  <a:srgbClr val="FF0000"/>
                </a:solidFill>
              </a:rPr>
              <a:t> 4 </a:t>
            </a:r>
            <a:r>
              <a:rPr lang="es-CO" sz="1200" u="sng" dirty="0" err="1">
                <a:solidFill>
                  <a:srgbClr val="FF0000"/>
                </a:solidFill>
              </a:rPr>
              <a:t>February</a:t>
            </a:r>
            <a:r>
              <a:rPr lang="es-CO" sz="1200" u="sng" dirty="0">
                <a:solidFill>
                  <a:srgbClr val="FF0000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182084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C786A9-0E32-046F-28C5-18C3AA36D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463" y="0"/>
            <a:ext cx="9110853" cy="47339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E0C9D15-51EE-9D52-BB68-00A7AA7335A3}"/>
              </a:ext>
            </a:extLst>
          </p:cNvPr>
          <p:cNvSpPr txBox="1"/>
          <p:nvPr/>
        </p:nvSpPr>
        <p:spPr>
          <a:xfrm>
            <a:off x="1062250" y="4726060"/>
            <a:ext cx="9712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Cooper </a:t>
            </a:r>
            <a:r>
              <a:rPr lang="es-CO" dirty="0" err="1"/>
              <a:t>pair</a:t>
            </a:r>
            <a:r>
              <a:rPr lang="es-CO" dirty="0"/>
              <a:t> </a:t>
            </a:r>
            <a:r>
              <a:rPr lang="es-CO" dirty="0" err="1"/>
              <a:t>density</a:t>
            </a:r>
            <a:r>
              <a:rPr lang="es-CO" dirty="0"/>
              <a:t> $|\psi|^2$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different</a:t>
            </a:r>
            <a:r>
              <a:rPr lang="es-CO" dirty="0"/>
              <a:t> </a:t>
            </a:r>
            <a:r>
              <a:rPr lang="es-CO" dirty="0" err="1"/>
              <a:t>values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external</a:t>
            </a:r>
            <a:r>
              <a:rPr lang="es-CO" dirty="0"/>
              <a:t> </a:t>
            </a:r>
            <a:r>
              <a:rPr lang="es-CO" dirty="0" err="1"/>
              <a:t>magnetic</a:t>
            </a:r>
            <a:r>
              <a:rPr lang="es-CO" dirty="0"/>
              <a:t> </a:t>
            </a:r>
            <a:r>
              <a:rPr lang="es-CO" dirty="0" err="1"/>
              <a:t>field</a:t>
            </a:r>
            <a:r>
              <a:rPr lang="es-CO" dirty="0"/>
              <a:t> H Panel (a): $\</a:t>
            </a:r>
            <a:r>
              <a:rPr lang="es-CO" dirty="0" err="1"/>
              <a:t>mathbf</a:t>
            </a:r>
            <a:r>
              <a:rPr lang="es-CO" dirty="0"/>
              <a:t>{H} = 1.1$, and panel (b): H= 1.3.  </a:t>
            </a:r>
            <a:r>
              <a:rPr lang="es-CO" dirty="0" err="1"/>
              <a:t>The</a:t>
            </a:r>
            <a:r>
              <a:rPr lang="es-CO" dirty="0"/>
              <a:t> Ginzburg–Landau </a:t>
            </a:r>
            <a:r>
              <a:rPr lang="es-CO" dirty="0" err="1"/>
              <a:t>parameter</a:t>
            </a:r>
            <a:r>
              <a:rPr lang="es-CO" dirty="0"/>
              <a:t> (GLP) </a:t>
            </a:r>
            <a:r>
              <a:rPr lang="es-CO" dirty="0" err="1"/>
              <a:t>is</a:t>
            </a:r>
            <a:r>
              <a:rPr lang="es-CO" dirty="0"/>
              <a:t> set </a:t>
            </a:r>
            <a:r>
              <a:rPr lang="es-CO" dirty="0" err="1"/>
              <a:t>to</a:t>
            </a:r>
            <a:r>
              <a:rPr lang="es-CO" dirty="0"/>
              <a:t> K= 2.0$.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density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projected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two</a:t>
            </a:r>
            <a:r>
              <a:rPr lang="es-CO" dirty="0"/>
              <a:t> </a:t>
            </a:r>
            <a:r>
              <a:rPr lang="es-CO" dirty="0" err="1"/>
              <a:t>selected</a:t>
            </a:r>
            <a:r>
              <a:rPr lang="es-CO" dirty="0"/>
              <a:t> </a:t>
            </a:r>
            <a:r>
              <a:rPr lang="es-CO" dirty="0" err="1"/>
              <a:t>layers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superconducting</a:t>
            </a:r>
            <a:r>
              <a:rPr lang="es-CO" dirty="0"/>
              <a:t> meso-</a:t>
            </a:r>
            <a:r>
              <a:rPr lang="es-CO" dirty="0" err="1"/>
              <a:t>wedge</a:t>
            </a:r>
            <a:r>
              <a:rPr lang="es-CO" dirty="0"/>
              <a:t>: $n = 1$, and $n = 7$. </a:t>
            </a:r>
            <a:r>
              <a:rPr lang="es-CO" dirty="0" err="1"/>
              <a:t>The</a:t>
            </a:r>
            <a:r>
              <a:rPr lang="es-CO" dirty="0"/>
              <a:t> color bar </a:t>
            </a:r>
            <a:r>
              <a:rPr lang="es-CO" dirty="0" err="1"/>
              <a:t>indicates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intensity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$|\psi|^{2}$ in </a:t>
            </a:r>
            <a:r>
              <a:rPr lang="es-CO" dirty="0" err="1"/>
              <a:t>each</a:t>
            </a:r>
            <a:r>
              <a:rPr lang="es-CO" dirty="0"/>
              <a:t> </a:t>
            </a:r>
            <a:r>
              <a:rPr lang="es-CO" dirty="0" err="1"/>
              <a:t>region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superconducting</a:t>
            </a:r>
            <a:r>
              <a:rPr lang="es-CO" dirty="0"/>
              <a:t> meso-</a:t>
            </a:r>
            <a:r>
              <a:rPr lang="es-CO" dirty="0" err="1"/>
              <a:t>wedge</a:t>
            </a:r>
            <a:r>
              <a:rPr lang="es-CO" dirty="0"/>
              <a:t> </a:t>
            </a:r>
            <a:r>
              <a:rPr lang="es-CO" dirty="0" err="1"/>
              <a:t>geometry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52649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F13499-A208-FCF3-D922-CA2D6F73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3" y="2201218"/>
            <a:ext cx="5245976" cy="24555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ACD0AA-500C-74E2-59F6-4154FEDCC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94075" y="-152652"/>
            <a:ext cx="2566303" cy="33210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FF3B69-0E1D-EF38-04E9-AE8CF11E3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041" y="2960339"/>
            <a:ext cx="3329734" cy="264301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F7D5DC3-FD0F-EC87-5C3C-C1E1ABB15627}"/>
              </a:ext>
            </a:extLst>
          </p:cNvPr>
          <p:cNvSpPr txBox="1"/>
          <p:nvPr/>
        </p:nvSpPr>
        <p:spPr>
          <a:xfrm>
            <a:off x="42839" y="4824066"/>
            <a:ext cx="78208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Voltage</a:t>
            </a:r>
            <a:r>
              <a:rPr lang="es-CO" sz="1400" dirty="0"/>
              <a:t> V as a </a:t>
            </a:r>
            <a:r>
              <a:rPr lang="es-CO" sz="1400" dirty="0" err="1"/>
              <a:t>function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J </a:t>
            </a:r>
            <a:r>
              <a:rPr lang="es-CO" sz="1400" dirty="0" err="1"/>
              <a:t>for</a:t>
            </a:r>
            <a:r>
              <a:rPr lang="es-CO" sz="1400" dirty="0"/>
              <a:t> a </a:t>
            </a:r>
            <a:r>
              <a:rPr lang="es-CO" sz="1400" dirty="0" err="1"/>
              <a:t>fixed</a:t>
            </a:r>
            <a:r>
              <a:rPr lang="es-CO" sz="1400" dirty="0"/>
              <a:t> Ginzburg-Landau </a:t>
            </a:r>
            <a:r>
              <a:rPr lang="es-CO" sz="1400" dirty="0" err="1"/>
              <a:t>parameter</a:t>
            </a:r>
            <a:r>
              <a:rPr lang="es-CO" sz="1400" dirty="0"/>
              <a:t> K=1.0 and </a:t>
            </a:r>
            <a:r>
              <a:rPr lang="es-CO" sz="1400" dirty="0" err="1"/>
              <a:t>different</a:t>
            </a:r>
            <a:r>
              <a:rPr lang="es-CO" sz="1400" dirty="0"/>
              <a:t> </a:t>
            </a:r>
            <a:r>
              <a:rPr lang="es-CO" sz="1400" dirty="0" err="1"/>
              <a:t>fixed</a:t>
            </a:r>
            <a:r>
              <a:rPr lang="es-CO" sz="1400" dirty="0"/>
              <a:t> </a:t>
            </a:r>
            <a:r>
              <a:rPr lang="es-CO" sz="1400" dirty="0" err="1"/>
              <a:t>values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H= 1.0,1.1,1.2,1.3, </a:t>
            </a:r>
            <a:r>
              <a:rPr lang="es-CO" sz="1400" dirty="0" err="1"/>
              <a:t>considering</a:t>
            </a:r>
            <a:r>
              <a:rPr lang="es-CO" sz="1400" dirty="0"/>
              <a:t> </a:t>
            </a:r>
            <a:r>
              <a:rPr lang="es-CO" sz="1400" dirty="0" err="1"/>
              <a:t>both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</a:t>
            </a:r>
            <a:r>
              <a:rPr lang="es-CO" sz="1400" dirty="0" err="1"/>
              <a:t>polarities</a:t>
            </a:r>
            <a:r>
              <a:rPr lang="es-CO" sz="1400" dirty="0"/>
              <a:t> (J&gt;0$ and J&lt;0),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 </a:t>
            </a:r>
            <a:r>
              <a:rPr lang="es-CO" sz="1400" dirty="0" err="1"/>
              <a:t>presented</a:t>
            </a:r>
            <a:r>
              <a:rPr lang="es-CO" sz="1400" dirty="0"/>
              <a:t> in Fig. \</a:t>
            </a:r>
            <a:r>
              <a:rPr lang="es-CO" sz="1400" dirty="0" err="1"/>
              <a:t>ref</a:t>
            </a:r>
            <a:r>
              <a:rPr lang="es-CO" sz="1400" dirty="0"/>
              <a:t>{</a:t>
            </a:r>
            <a:r>
              <a:rPr lang="es-CO" sz="1400" dirty="0" err="1"/>
              <a:t>Layout</a:t>
            </a:r>
            <a:r>
              <a:rPr lang="es-CO" sz="1400" dirty="0"/>
              <a:t>} (a-b).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first</a:t>
            </a:r>
            <a:r>
              <a:rPr lang="es-CO" sz="1400" dirty="0"/>
              <a:t> </a:t>
            </a:r>
            <a:r>
              <a:rPr lang="es-CO" sz="1400" dirty="0" err="1"/>
              <a:t>critical</a:t>
            </a:r>
            <a:r>
              <a:rPr lang="es-CO" sz="1400" dirty="0"/>
              <a:t> </a:t>
            </a:r>
            <a:r>
              <a:rPr lang="es-CO" sz="1400" dirty="0" err="1"/>
              <a:t>currents</a:t>
            </a:r>
            <a:r>
              <a:rPr lang="es-CO" sz="1400" dirty="0"/>
              <a:t> </a:t>
            </a:r>
            <a:r>
              <a:rPr lang="es-CO" sz="1400" dirty="0" err="1"/>
              <a:t>have</a:t>
            </a:r>
            <a:r>
              <a:rPr lang="es-CO" sz="1400" dirty="0"/>
              <a:t> </a:t>
            </a:r>
            <a:r>
              <a:rPr lang="es-CO" sz="1400" dirty="0" err="1"/>
              <a:t>been</a:t>
            </a:r>
            <a:r>
              <a:rPr lang="es-CO" sz="1400" dirty="0"/>
              <a:t> </a:t>
            </a:r>
            <a:r>
              <a:rPr lang="es-CO" sz="1400" dirty="0" err="1"/>
              <a:t>indicated</a:t>
            </a:r>
            <a:r>
              <a:rPr lang="es-CO" sz="1400" dirty="0"/>
              <a:t>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each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fields</a:t>
            </a:r>
            <a:r>
              <a:rPr lang="es-CO" sz="1400" dirty="0"/>
              <a:t> and </a:t>
            </a:r>
            <a:r>
              <a:rPr lang="es-CO" sz="1400" dirty="0" err="1"/>
              <a:t>both</a:t>
            </a:r>
            <a:r>
              <a:rPr lang="es-CO" sz="1400" dirty="0"/>
              <a:t> </a:t>
            </a:r>
            <a:r>
              <a:rPr lang="es-CO" sz="1400" dirty="0" err="1"/>
              <a:t>polarities</a:t>
            </a:r>
            <a:r>
              <a:rPr lang="es-CO" sz="1400" dirty="0"/>
              <a:t> </a:t>
            </a:r>
            <a:r>
              <a:rPr lang="es-CO" sz="1400" dirty="0" err="1"/>
              <a:t>used</a:t>
            </a:r>
            <a:r>
              <a:rPr lang="es-CO" sz="1400" dirty="0"/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650DAF-C58C-C49A-9B31-096608185D21}"/>
              </a:ext>
            </a:extLst>
          </p:cNvPr>
          <p:cNvSpPr txBox="1"/>
          <p:nvPr/>
        </p:nvSpPr>
        <p:spPr>
          <a:xfrm>
            <a:off x="3145490" y="341205"/>
            <a:ext cx="44879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Voltage</a:t>
            </a:r>
            <a:r>
              <a:rPr lang="es-CO" sz="1400" dirty="0"/>
              <a:t> V as a </a:t>
            </a:r>
            <a:r>
              <a:rPr lang="es-CO" sz="1400" dirty="0" err="1"/>
              <a:t>function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J </a:t>
            </a:r>
            <a:r>
              <a:rPr lang="es-CO" sz="1400" dirty="0" err="1"/>
              <a:t>for</a:t>
            </a:r>
            <a:r>
              <a:rPr lang="es-CO" sz="1400" dirty="0"/>
              <a:t> a </a:t>
            </a:r>
            <a:r>
              <a:rPr lang="es-CO" sz="1400" dirty="0" err="1"/>
              <a:t>fixed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H=1.0 and </a:t>
            </a:r>
            <a:r>
              <a:rPr lang="es-CO" sz="1400" dirty="0" err="1"/>
              <a:t>different</a:t>
            </a:r>
            <a:r>
              <a:rPr lang="es-CO" sz="1400" dirty="0"/>
              <a:t> Ginzburg–Landau </a:t>
            </a:r>
            <a:r>
              <a:rPr lang="es-CO" sz="1400" dirty="0" err="1"/>
              <a:t>parameters</a:t>
            </a:r>
            <a:r>
              <a:rPr lang="es-CO" sz="1400" dirty="0"/>
              <a:t> K= 1.0,2.0,3.0,4.0, </a:t>
            </a:r>
            <a:r>
              <a:rPr lang="es-CO" sz="1400" dirty="0" err="1"/>
              <a:t>considering</a:t>
            </a:r>
            <a:r>
              <a:rPr lang="es-CO" sz="1400" dirty="0"/>
              <a:t> </a:t>
            </a:r>
            <a:r>
              <a:rPr lang="es-CO" sz="1400" dirty="0" err="1"/>
              <a:t>both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</a:t>
            </a:r>
            <a:r>
              <a:rPr lang="es-CO" sz="1400" dirty="0" err="1"/>
              <a:t>polarities</a:t>
            </a:r>
            <a:r>
              <a:rPr lang="es-CO" sz="1400" dirty="0"/>
              <a:t> J&gt;0 and J&lt;0,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sample</a:t>
            </a:r>
            <a:r>
              <a:rPr lang="es-CO" sz="1400" dirty="0"/>
              <a:t> </a:t>
            </a:r>
            <a:r>
              <a:rPr lang="es-CO" sz="1400" dirty="0" err="1"/>
              <a:t>presented</a:t>
            </a:r>
            <a:r>
              <a:rPr lang="es-CO" sz="1400" dirty="0"/>
              <a:t> in Fig. \</a:t>
            </a:r>
            <a:r>
              <a:rPr lang="es-CO" sz="1400" dirty="0" err="1"/>
              <a:t>ref</a:t>
            </a:r>
            <a:r>
              <a:rPr lang="es-CO" sz="1400" dirty="0"/>
              <a:t>{</a:t>
            </a:r>
            <a:r>
              <a:rPr lang="es-CO" sz="1400" dirty="0" err="1"/>
              <a:t>Layout</a:t>
            </a:r>
            <a:r>
              <a:rPr lang="es-CO" sz="1400" dirty="0"/>
              <a:t>} (a-b).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values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critical</a:t>
            </a:r>
            <a:r>
              <a:rPr lang="es-CO" sz="1400" dirty="0"/>
              <a:t> </a:t>
            </a:r>
            <a:r>
              <a:rPr lang="es-CO" sz="1400" dirty="0" err="1"/>
              <a:t>currents</a:t>
            </a:r>
            <a:r>
              <a:rPr lang="es-CO" sz="1400" dirty="0"/>
              <a:t> </a:t>
            </a:r>
            <a:r>
              <a:rPr lang="es-CO" sz="1400" dirty="0" err="1"/>
              <a:t>have</a:t>
            </a:r>
            <a:r>
              <a:rPr lang="es-CO" sz="1400" dirty="0"/>
              <a:t> </a:t>
            </a:r>
            <a:r>
              <a:rPr lang="es-CO" sz="1400" dirty="0" err="1"/>
              <a:t>been</a:t>
            </a:r>
            <a:r>
              <a:rPr lang="es-CO" sz="1400" dirty="0"/>
              <a:t> </a:t>
            </a:r>
            <a:r>
              <a:rPr lang="es-CO" sz="1400" dirty="0" err="1"/>
              <a:t>indicated</a:t>
            </a:r>
            <a:r>
              <a:rPr lang="es-CO" sz="1400" dirty="0"/>
              <a:t> </a:t>
            </a:r>
            <a:r>
              <a:rPr lang="es-CO" sz="1400" dirty="0" err="1"/>
              <a:t>with</a:t>
            </a:r>
            <a:r>
              <a:rPr lang="es-CO" sz="1400" dirty="0"/>
              <a:t> </a:t>
            </a:r>
            <a:r>
              <a:rPr lang="es-CO" sz="1400" dirty="0" err="1"/>
              <a:t>arrows</a:t>
            </a:r>
            <a:r>
              <a:rPr lang="es-CO" sz="1400" dirty="0"/>
              <a:t>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each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K </a:t>
            </a:r>
            <a:r>
              <a:rPr lang="es-CO" sz="1400" dirty="0" err="1"/>
              <a:t>values</a:t>
            </a:r>
            <a:r>
              <a:rPr lang="es-CO" sz="1400" dirty="0"/>
              <a:t>,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both</a:t>
            </a:r>
            <a:r>
              <a:rPr lang="es-CO" sz="1400" dirty="0"/>
              <a:t> </a:t>
            </a:r>
            <a:r>
              <a:rPr lang="es-CO" sz="1400" dirty="0" err="1"/>
              <a:t>polarities</a:t>
            </a:r>
            <a:r>
              <a:rPr lang="es-CO" sz="140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37337A-478A-CF1C-9B7D-8DE8319CB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" y="717759"/>
            <a:ext cx="31026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5" tooltip="Go to Physica B: Condensed Matter on ScienceDirect"/>
              </a:rPr>
              <a:t>Physica B: Condensed Matter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rgbClr val="1F1F1F"/>
              </a:solidFill>
              <a:effectLst/>
              <a:latin typeface="ElsevierSan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  <a:hlinkClick r:id="rId6" tooltip="Go to table of contents for this volume/issue"/>
              </a:rPr>
              <a:t>Volume 720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1 January 2026, 417960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6874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25014E-9375-0548-5356-53DE6A11A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67" y="173565"/>
            <a:ext cx="3694791" cy="478149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11BE599-E607-364B-30E8-2CCE32BC2981}"/>
              </a:ext>
            </a:extLst>
          </p:cNvPr>
          <p:cNvSpPr txBox="1"/>
          <p:nvPr/>
        </p:nvSpPr>
        <p:spPr>
          <a:xfrm>
            <a:off x="6549459" y="5113855"/>
            <a:ext cx="5264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Cooper </a:t>
            </a:r>
            <a:r>
              <a:rPr lang="es-CO" sz="1200" dirty="0" err="1"/>
              <a:t>pair</a:t>
            </a:r>
            <a:r>
              <a:rPr lang="es-CO" sz="1200" dirty="0"/>
              <a:t> </a:t>
            </a:r>
            <a:r>
              <a:rPr lang="es-CO" sz="1200" dirty="0" err="1"/>
              <a:t>density</a:t>
            </a:r>
            <a:r>
              <a:rPr lang="es-CO" sz="1200" dirty="0"/>
              <a:t> $|\psi|^2$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different</a:t>
            </a:r>
            <a:r>
              <a:rPr lang="es-CO" sz="1200" dirty="0"/>
              <a:t> </a:t>
            </a:r>
            <a:r>
              <a:rPr lang="es-CO" sz="1200" dirty="0" err="1"/>
              <a:t>values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Ginzburg-Landau </a:t>
            </a:r>
            <a:r>
              <a:rPr lang="es-CO" sz="1200" dirty="0" err="1"/>
              <a:t>parameter</a:t>
            </a:r>
            <a:r>
              <a:rPr lang="es-CO" sz="1200" dirty="0"/>
              <a:t> $\kappa=1.0,2.0,3.0,4.0$, </a:t>
            </a:r>
            <a:r>
              <a:rPr lang="es-CO" sz="1200" dirty="0" err="1"/>
              <a:t>for</a:t>
            </a:r>
            <a:r>
              <a:rPr lang="es-CO" sz="1200" dirty="0"/>
              <a:t> a </a:t>
            </a:r>
            <a:r>
              <a:rPr lang="es-CO" sz="1200" dirty="0" err="1"/>
              <a:t>fixed</a:t>
            </a:r>
            <a:r>
              <a:rPr lang="es-CO" sz="1200" dirty="0"/>
              <a:t> </a:t>
            </a:r>
            <a:r>
              <a:rPr lang="es-CO" sz="1200" dirty="0" err="1"/>
              <a:t>external</a:t>
            </a:r>
            <a:r>
              <a:rPr lang="es-CO" sz="1200" dirty="0"/>
              <a:t> </a:t>
            </a:r>
            <a:r>
              <a:rPr lang="es-CO" sz="1200" dirty="0" err="1"/>
              <a:t>magnetic</a:t>
            </a:r>
            <a:r>
              <a:rPr lang="es-CO" sz="1200" dirty="0"/>
              <a:t> </a:t>
            </a:r>
            <a:r>
              <a:rPr lang="es-CO" sz="1200" dirty="0" err="1"/>
              <a:t>field</a:t>
            </a:r>
            <a:r>
              <a:rPr lang="es-CO" sz="1200" dirty="0"/>
              <a:t> $\</a:t>
            </a:r>
            <a:r>
              <a:rPr lang="es-CO" sz="1200" dirty="0" err="1"/>
              <a:t>mathbf</a:t>
            </a:r>
            <a:r>
              <a:rPr lang="es-CO" sz="1200" dirty="0"/>
              <a:t>{H}=1.0$. Panel (a): $\kappa=1.0$, $\</a:t>
            </a:r>
            <a:r>
              <a:rPr lang="es-CO" sz="1200" dirty="0" err="1"/>
              <a:t>mathbf</a:t>
            </a:r>
            <a:r>
              <a:rPr lang="es-CO" sz="1200" dirty="0"/>
              <a:t>{J}&gt;0$, $\</a:t>
            </a:r>
            <a:r>
              <a:rPr lang="es-CO" sz="1200" dirty="0" err="1"/>
              <a:t>mathbf</a:t>
            </a:r>
            <a:r>
              <a:rPr lang="es-CO" sz="1200" dirty="0"/>
              <a:t>{J}&lt;0$,  panel (b): $\kappa=3.0$,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both</a:t>
            </a:r>
            <a:r>
              <a:rPr lang="es-CO" sz="1200" dirty="0"/>
              <a:t> </a:t>
            </a:r>
            <a:r>
              <a:rPr lang="es-CO" sz="1200" dirty="0" err="1"/>
              <a:t>polarities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external</a:t>
            </a:r>
            <a:r>
              <a:rPr lang="es-CO" sz="1200" dirty="0"/>
              <a:t> </a:t>
            </a:r>
            <a:r>
              <a:rPr lang="es-CO" sz="1200" dirty="0" err="1"/>
              <a:t>currents</a:t>
            </a:r>
            <a:r>
              <a:rPr lang="es-CO" sz="1200" dirty="0"/>
              <a:t> and panel (c):  $\kappa=4.0$, $\</a:t>
            </a:r>
            <a:r>
              <a:rPr lang="es-CO" sz="1200" dirty="0" err="1"/>
              <a:t>mathbf</a:t>
            </a:r>
            <a:r>
              <a:rPr lang="es-CO" sz="1200" dirty="0"/>
              <a:t>{J}&gt;0$, $\</a:t>
            </a:r>
            <a:r>
              <a:rPr lang="es-CO" sz="1200" dirty="0" err="1"/>
              <a:t>mathbf</a:t>
            </a:r>
            <a:r>
              <a:rPr lang="es-CO" sz="1200" dirty="0"/>
              <a:t>{J}&lt;0$.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density</a:t>
            </a:r>
            <a:r>
              <a:rPr lang="es-CO" sz="1200" dirty="0"/>
              <a:t> </a:t>
            </a:r>
            <a:r>
              <a:rPr lang="es-CO" sz="1200" dirty="0" err="1"/>
              <a:t>is</a:t>
            </a:r>
            <a:r>
              <a:rPr lang="es-CO" sz="1200" dirty="0"/>
              <a:t> </a:t>
            </a:r>
            <a:r>
              <a:rPr lang="es-CO" sz="1200" dirty="0" err="1"/>
              <a:t>projected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one</a:t>
            </a:r>
            <a:r>
              <a:rPr lang="es-CO" sz="1200" dirty="0"/>
              <a:t> </a:t>
            </a:r>
            <a:r>
              <a:rPr lang="es-CO" sz="1200" dirty="0" err="1"/>
              <a:t>selected</a:t>
            </a:r>
            <a:r>
              <a:rPr lang="es-CO" sz="1200" dirty="0"/>
              <a:t> </a:t>
            </a:r>
            <a:r>
              <a:rPr lang="es-CO" sz="1200" dirty="0" err="1"/>
              <a:t>layer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superconducting</a:t>
            </a:r>
            <a:r>
              <a:rPr lang="es-CO" sz="1200" dirty="0"/>
              <a:t> meso-</a:t>
            </a:r>
            <a:r>
              <a:rPr lang="es-CO" sz="1200" dirty="0" err="1"/>
              <a:t>sample</a:t>
            </a:r>
            <a:r>
              <a:rPr lang="es-CO" sz="12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4F25DE-E6ED-EE6D-FFB6-6F188AB04F05}"/>
              </a:ext>
            </a:extLst>
          </p:cNvPr>
          <p:cNvSpPr txBox="1"/>
          <p:nvPr/>
        </p:nvSpPr>
        <p:spPr>
          <a:xfrm>
            <a:off x="182756" y="4966493"/>
            <a:ext cx="578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Cooper </a:t>
            </a:r>
            <a:r>
              <a:rPr lang="es-CO" sz="1200" dirty="0" err="1"/>
              <a:t>pair</a:t>
            </a:r>
            <a:r>
              <a:rPr lang="es-CO" sz="1200" dirty="0"/>
              <a:t> </a:t>
            </a:r>
            <a:r>
              <a:rPr lang="es-CO" sz="1200" dirty="0" err="1"/>
              <a:t>density</a:t>
            </a:r>
            <a:r>
              <a:rPr lang="es-CO" sz="1200" dirty="0"/>
              <a:t> $|\psi|^2$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different</a:t>
            </a:r>
            <a:r>
              <a:rPr lang="es-CO" sz="1200" dirty="0"/>
              <a:t> </a:t>
            </a:r>
            <a:r>
              <a:rPr lang="es-CO" sz="1200" dirty="0" err="1"/>
              <a:t>values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Ginzburg-Landau </a:t>
            </a:r>
            <a:r>
              <a:rPr lang="es-CO" sz="1200" dirty="0" err="1"/>
              <a:t>parameter</a:t>
            </a:r>
            <a:r>
              <a:rPr lang="es-CO" sz="1200" dirty="0"/>
              <a:t> $\kappa=1.0,3.0,4.0$, </a:t>
            </a:r>
            <a:r>
              <a:rPr lang="es-CO" sz="1200" dirty="0" err="1"/>
              <a:t>for</a:t>
            </a:r>
            <a:r>
              <a:rPr lang="es-CO" sz="1200" dirty="0"/>
              <a:t> a </a:t>
            </a:r>
            <a:r>
              <a:rPr lang="es-CO" sz="1200" dirty="0" err="1"/>
              <a:t>fixed</a:t>
            </a:r>
            <a:r>
              <a:rPr lang="es-CO" sz="1200" dirty="0"/>
              <a:t> </a:t>
            </a:r>
            <a:r>
              <a:rPr lang="es-CO" sz="1200" dirty="0" err="1"/>
              <a:t>external</a:t>
            </a:r>
            <a:r>
              <a:rPr lang="es-CO" sz="1200" dirty="0"/>
              <a:t> </a:t>
            </a:r>
            <a:r>
              <a:rPr lang="es-CO" sz="1200" dirty="0" err="1"/>
              <a:t>magnetic</a:t>
            </a:r>
            <a:r>
              <a:rPr lang="es-CO" sz="1200" dirty="0"/>
              <a:t> </a:t>
            </a:r>
            <a:r>
              <a:rPr lang="es-CO" sz="1200" dirty="0" err="1"/>
              <a:t>field</a:t>
            </a:r>
            <a:r>
              <a:rPr lang="es-CO" sz="1200" dirty="0"/>
              <a:t> $\</a:t>
            </a:r>
            <a:r>
              <a:rPr lang="es-CO" sz="1200" dirty="0" err="1"/>
              <a:t>mathbf</a:t>
            </a:r>
            <a:r>
              <a:rPr lang="es-CO" sz="1200" dirty="0"/>
              <a:t>{H}=1.0$. Panel (a): $\kappa=1.0$, $\</a:t>
            </a:r>
            <a:r>
              <a:rPr lang="es-CO" sz="1200" dirty="0" err="1"/>
              <a:t>mathbf</a:t>
            </a:r>
            <a:r>
              <a:rPr lang="es-CO" sz="1200" dirty="0"/>
              <a:t>{J}&gt;0$, $\</a:t>
            </a:r>
            <a:r>
              <a:rPr lang="es-CO" sz="1200" dirty="0" err="1"/>
              <a:t>mathbf</a:t>
            </a:r>
            <a:r>
              <a:rPr lang="es-CO" sz="1200" dirty="0"/>
              <a:t>{J}&lt;0$ en inverse </a:t>
            </a:r>
            <a:r>
              <a:rPr lang="es-CO" sz="1200" dirty="0" err="1"/>
              <a:t>polarity</a:t>
            </a:r>
            <a:r>
              <a:rPr lang="es-CO" sz="1200" dirty="0"/>
              <a:t>,  panel (b): $\kappa=3.0$,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both</a:t>
            </a:r>
            <a:r>
              <a:rPr lang="es-CO" sz="1200" dirty="0"/>
              <a:t> </a:t>
            </a:r>
            <a:r>
              <a:rPr lang="es-CO" sz="1200" dirty="0" err="1"/>
              <a:t>polarities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external</a:t>
            </a:r>
            <a:r>
              <a:rPr lang="es-CO" sz="1200" dirty="0"/>
              <a:t> </a:t>
            </a:r>
            <a:r>
              <a:rPr lang="es-CO" sz="1200" dirty="0" err="1"/>
              <a:t>currents</a:t>
            </a:r>
            <a:r>
              <a:rPr lang="es-CO" sz="1200" dirty="0"/>
              <a:t> and panel (c):  $\kappa=4.0$, $\</a:t>
            </a:r>
            <a:r>
              <a:rPr lang="es-CO" sz="1200" dirty="0" err="1"/>
              <a:t>mathbf</a:t>
            </a:r>
            <a:r>
              <a:rPr lang="es-CO" sz="1200" dirty="0"/>
              <a:t>{J}&gt;0$, $\</a:t>
            </a:r>
            <a:r>
              <a:rPr lang="es-CO" sz="1200" dirty="0" err="1"/>
              <a:t>mathbf</a:t>
            </a:r>
            <a:r>
              <a:rPr lang="es-CO" sz="1200" dirty="0"/>
              <a:t>{J}&lt;0$.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density</a:t>
            </a:r>
            <a:r>
              <a:rPr lang="es-CO" sz="1200" dirty="0"/>
              <a:t> </a:t>
            </a:r>
            <a:r>
              <a:rPr lang="es-CO" sz="1200" dirty="0" err="1"/>
              <a:t>is</a:t>
            </a:r>
            <a:r>
              <a:rPr lang="es-CO" sz="1200" dirty="0"/>
              <a:t> </a:t>
            </a:r>
            <a:r>
              <a:rPr lang="es-CO" sz="1200" dirty="0" err="1"/>
              <a:t>projected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one</a:t>
            </a:r>
            <a:r>
              <a:rPr lang="es-CO" sz="1200" dirty="0"/>
              <a:t> </a:t>
            </a:r>
            <a:r>
              <a:rPr lang="es-CO" sz="1200" dirty="0" err="1"/>
              <a:t>selected</a:t>
            </a:r>
            <a:r>
              <a:rPr lang="es-CO" sz="1200" dirty="0"/>
              <a:t> </a:t>
            </a:r>
            <a:r>
              <a:rPr lang="es-CO" sz="1200" dirty="0" err="1"/>
              <a:t>layer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superconducting</a:t>
            </a:r>
            <a:r>
              <a:rPr lang="es-CO" sz="1200" dirty="0"/>
              <a:t> meso-</a:t>
            </a:r>
            <a:r>
              <a:rPr lang="es-CO" sz="1200" dirty="0" err="1"/>
              <a:t>sample</a:t>
            </a:r>
            <a:endParaRPr lang="es-CO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C3C94F8-0F3D-E42E-CC6B-7D4EC5AC3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015" y="7398"/>
            <a:ext cx="2295280" cy="51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98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B70609A-B9EF-FBA3-658A-596D00F7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527050"/>
            <a:ext cx="4519827" cy="258195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D4B91BE-D3C0-1902-BFB3-A8D561F1AA75}"/>
              </a:ext>
            </a:extLst>
          </p:cNvPr>
          <p:cNvSpPr txBox="1"/>
          <p:nvPr/>
        </p:nvSpPr>
        <p:spPr>
          <a:xfrm>
            <a:off x="5535827" y="527051"/>
            <a:ext cx="45472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 err="1"/>
              <a:t>Schematic</a:t>
            </a:r>
            <a:r>
              <a:rPr lang="es-CO" sz="1400" dirty="0"/>
              <a:t> </a:t>
            </a:r>
            <a:r>
              <a:rPr lang="es-CO" sz="1400" dirty="0" err="1"/>
              <a:t>view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simulated</a:t>
            </a:r>
            <a:r>
              <a:rPr lang="es-CO" sz="1400" dirty="0"/>
              <a:t> circular </a:t>
            </a:r>
            <a:r>
              <a:rPr lang="es-CO" sz="1400" dirty="0" err="1"/>
              <a:t>superconducting</a:t>
            </a:r>
            <a:r>
              <a:rPr lang="es-CO" sz="1400" dirty="0"/>
              <a:t> </a:t>
            </a:r>
            <a:r>
              <a:rPr lang="es-CO" sz="1400" dirty="0" err="1"/>
              <a:t>plate</a:t>
            </a:r>
            <a:r>
              <a:rPr lang="es-CO" sz="1400" dirty="0"/>
              <a:t> </a:t>
            </a:r>
            <a:r>
              <a:rPr lang="es-CO" sz="1400" dirty="0" err="1"/>
              <a:t>with</a:t>
            </a:r>
            <a:r>
              <a:rPr lang="es-CO" sz="1400" dirty="0"/>
              <a:t> $r_0=9.95 \mu m$, $</a:t>
            </a:r>
            <a:r>
              <a:rPr lang="es-CO" sz="1400" dirty="0" err="1"/>
              <a:t>r_i</a:t>
            </a:r>
            <a:r>
              <a:rPr lang="es-CO" sz="1400" dirty="0"/>
              <a:t>=3.45 \mu m$ and $d=0.1\mu m$.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green</a:t>
            </a:r>
            <a:r>
              <a:rPr lang="es-CO" sz="1400" dirty="0"/>
              <a:t> and red </a:t>
            </a:r>
            <a:r>
              <a:rPr lang="es-CO" sz="1400" dirty="0" err="1"/>
              <a:t>regions</a:t>
            </a:r>
            <a:r>
              <a:rPr lang="es-CO" sz="1400" dirty="0"/>
              <a:t> </a:t>
            </a:r>
            <a:r>
              <a:rPr lang="es-CO" sz="1400" dirty="0" err="1"/>
              <a:t>represent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</a:t>
            </a:r>
            <a:r>
              <a:rPr lang="es-CO" sz="1400" dirty="0" err="1"/>
              <a:t>source</a:t>
            </a:r>
            <a:r>
              <a:rPr lang="es-CO" sz="1400" dirty="0"/>
              <a:t> and </a:t>
            </a:r>
            <a:r>
              <a:rPr lang="es-CO" sz="1400" dirty="0" err="1"/>
              <a:t>drain</a:t>
            </a:r>
            <a:r>
              <a:rPr lang="es-CO" sz="1400" dirty="0"/>
              <a:t>, </a:t>
            </a:r>
            <a:r>
              <a:rPr lang="es-CO" sz="1400" dirty="0" err="1"/>
              <a:t>respectively</a:t>
            </a:r>
            <a:r>
              <a:rPr lang="es-CO" sz="1400" dirty="0"/>
              <a:t> </a:t>
            </a:r>
            <a:r>
              <a:rPr lang="es-CO" sz="1400" dirty="0" err="1"/>
              <a:t>with</a:t>
            </a:r>
            <a:r>
              <a:rPr lang="es-CO" sz="1400" dirty="0"/>
              <a:t> </a:t>
            </a:r>
            <a:r>
              <a:rPr lang="es-CO" sz="1400" dirty="0" err="1"/>
              <a:t>size</a:t>
            </a:r>
            <a:r>
              <a:rPr lang="es-CO" sz="1400" dirty="0"/>
              <a:t> $</a:t>
            </a:r>
            <a:r>
              <a:rPr lang="es-CO" sz="1400" dirty="0" err="1"/>
              <a:t>sd</a:t>
            </a:r>
            <a:r>
              <a:rPr lang="es-CO" sz="1400" dirty="0"/>
              <a:t>\</a:t>
            </a:r>
            <a:r>
              <a:rPr lang="es-CO" sz="1400" dirty="0" err="1"/>
              <a:t>approx</a:t>
            </a:r>
            <a:r>
              <a:rPr lang="es-CO" sz="1400" dirty="0"/>
              <a:t> 20.98\mu m$. Probe </a:t>
            </a:r>
            <a:r>
              <a:rPr lang="es-CO" sz="1400" dirty="0" err="1"/>
              <a:t>points</a:t>
            </a:r>
            <a:r>
              <a:rPr lang="es-CO" sz="1400" dirty="0"/>
              <a:t> (in gray) </a:t>
            </a:r>
            <a:r>
              <a:rPr lang="es-CO" sz="1400" dirty="0" err="1"/>
              <a:t>for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simulations</a:t>
            </a:r>
            <a:r>
              <a:rPr lang="es-CO" sz="1400" dirty="0"/>
              <a:t>, are </a:t>
            </a:r>
            <a:r>
              <a:rPr lang="es-CO" sz="1400" dirty="0" err="1"/>
              <a:t>also</a:t>
            </a:r>
            <a:r>
              <a:rPr lang="es-CO" sz="1400" dirty="0"/>
              <a:t> </a:t>
            </a:r>
            <a:r>
              <a:rPr lang="es-CO" sz="1400" dirty="0" err="1"/>
              <a:t>indicated</a:t>
            </a:r>
            <a:r>
              <a:rPr lang="es-CO" sz="1400" dirty="0"/>
              <a:t>. $\</a:t>
            </a:r>
            <a:r>
              <a:rPr lang="es-CO" sz="1400" dirty="0" err="1"/>
              <a:t>mathbf</a:t>
            </a:r>
            <a:r>
              <a:rPr lang="es-CO" sz="1400" dirty="0"/>
              <a:t>{J}$ and $\</a:t>
            </a:r>
            <a:r>
              <a:rPr lang="es-CO" sz="1400" dirty="0" err="1"/>
              <a:t>mathbf</a:t>
            </a:r>
            <a:r>
              <a:rPr lang="es-CO" sz="1400" dirty="0"/>
              <a:t>{H}$ are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</a:t>
            </a:r>
            <a:r>
              <a:rPr lang="es-CO" sz="1400" dirty="0" err="1"/>
              <a:t>current</a:t>
            </a:r>
            <a:r>
              <a:rPr lang="es-CO" sz="1400" dirty="0"/>
              <a:t> and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, </a:t>
            </a:r>
            <a:r>
              <a:rPr lang="es-CO" sz="1400" dirty="0" err="1"/>
              <a:t>respectively</a:t>
            </a:r>
            <a:r>
              <a:rPr lang="es-CO" sz="1400"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D57BC68-AC0F-3906-BEA4-4924F52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0306"/>
            <a:ext cx="4355951" cy="34478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23F67DB-04C9-4F83-88B2-4078411ABF58}"/>
              </a:ext>
            </a:extLst>
          </p:cNvPr>
          <p:cNvSpPr txBox="1"/>
          <p:nvPr/>
        </p:nvSpPr>
        <p:spPr>
          <a:xfrm>
            <a:off x="1303282" y="3836276"/>
            <a:ext cx="4414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/>
              <a:t>Cooper </a:t>
            </a:r>
            <a:r>
              <a:rPr lang="es-CO" sz="1600" dirty="0" err="1"/>
              <a:t>pair</a:t>
            </a:r>
            <a:r>
              <a:rPr lang="es-CO" sz="1600" dirty="0"/>
              <a:t> </a:t>
            </a:r>
            <a:r>
              <a:rPr lang="es-CO" sz="1600" dirty="0" err="1"/>
              <a:t>density</a:t>
            </a:r>
            <a:r>
              <a:rPr lang="es-CO" sz="1600" dirty="0"/>
              <a:t> $|\psi|^2$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superconducting</a:t>
            </a:r>
            <a:r>
              <a:rPr lang="es-CO" sz="1600" dirty="0"/>
              <a:t> </a:t>
            </a:r>
            <a:r>
              <a:rPr lang="es-CO" sz="1600" dirty="0" err="1"/>
              <a:t>order</a:t>
            </a:r>
            <a:r>
              <a:rPr lang="es-CO" sz="1600" dirty="0"/>
              <a:t> </a:t>
            </a:r>
            <a:r>
              <a:rPr lang="es-CO" sz="1600" dirty="0" err="1"/>
              <a:t>parameter</a:t>
            </a:r>
            <a:r>
              <a:rPr lang="es-CO" sz="1600" dirty="0"/>
              <a:t> </a:t>
            </a:r>
            <a:r>
              <a:rPr lang="es-CO" sz="1600" dirty="0" err="1"/>
              <a:t>for</a:t>
            </a:r>
            <a:r>
              <a:rPr lang="es-CO" sz="1600" dirty="0"/>
              <a:t> </a:t>
            </a:r>
            <a:r>
              <a:rPr lang="es-CO" sz="1600" dirty="0" err="1"/>
              <a:t>an</a:t>
            </a:r>
            <a:r>
              <a:rPr lang="es-CO" sz="1600" dirty="0"/>
              <a:t> </a:t>
            </a:r>
            <a:r>
              <a:rPr lang="es-CO" sz="1600" dirty="0" err="1"/>
              <a:t>applied</a:t>
            </a:r>
            <a:r>
              <a:rPr lang="es-CO" sz="1600" dirty="0"/>
              <a:t> </a:t>
            </a:r>
            <a:r>
              <a:rPr lang="es-CO" sz="1600" dirty="0" err="1"/>
              <a:t>magnetic</a:t>
            </a:r>
            <a:r>
              <a:rPr lang="es-CO" sz="1600" dirty="0"/>
              <a:t> </a:t>
            </a:r>
            <a:r>
              <a:rPr lang="es-CO" sz="1600" dirty="0" err="1"/>
              <a:t>field</a:t>
            </a:r>
            <a:r>
              <a:rPr lang="es-CO" sz="1600" dirty="0"/>
              <a:t> $H=0.2mT$ and </a:t>
            </a:r>
            <a:r>
              <a:rPr lang="es-CO" sz="1600" dirty="0" err="1"/>
              <a:t>different</a:t>
            </a:r>
            <a:r>
              <a:rPr lang="es-CO" sz="1600" dirty="0"/>
              <a:t> </a:t>
            </a:r>
            <a:r>
              <a:rPr lang="es-CO" sz="1600" dirty="0" err="1"/>
              <a:t>temperature</a:t>
            </a:r>
            <a:r>
              <a:rPr lang="es-CO" sz="1600" dirty="0"/>
              <a:t> </a:t>
            </a:r>
            <a:r>
              <a:rPr lang="es-CO" sz="1600" dirty="0" err="1"/>
              <a:t>gradients</a:t>
            </a:r>
            <a:r>
              <a:rPr lang="es-CO" sz="1600" dirty="0"/>
              <a:t> (linear, </a:t>
            </a:r>
            <a:r>
              <a:rPr lang="es-CO" sz="1600" dirty="0" err="1"/>
              <a:t>quadratic</a:t>
            </a:r>
            <a:r>
              <a:rPr lang="es-CO" sz="1600" dirty="0"/>
              <a:t> and </a:t>
            </a:r>
            <a:r>
              <a:rPr lang="es-CO" sz="1600" dirty="0" err="1"/>
              <a:t>gaussian</a:t>
            </a:r>
            <a:r>
              <a:rPr lang="es-CO" sz="1600" dirty="0"/>
              <a:t>) </a:t>
            </a:r>
            <a:r>
              <a:rPr lang="es-CO" sz="1600" dirty="0" err="1"/>
              <a:t>that</a:t>
            </a:r>
            <a:r>
              <a:rPr lang="es-CO" sz="1600" dirty="0"/>
              <a:t> </a:t>
            </a:r>
            <a:r>
              <a:rPr lang="es-CO" sz="1600" dirty="0" err="1"/>
              <a:t>have</a:t>
            </a:r>
            <a:r>
              <a:rPr lang="es-CO" sz="1600" dirty="0"/>
              <a:t> a </a:t>
            </a:r>
            <a:r>
              <a:rPr lang="es-CO" sz="1600" dirty="0" err="1"/>
              <a:t>reduction</a:t>
            </a:r>
            <a:r>
              <a:rPr lang="es-CO" sz="1600" dirty="0"/>
              <a:t> $\Delta \</a:t>
            </a:r>
            <a:r>
              <a:rPr lang="es-CO" sz="1600" dirty="0" err="1"/>
              <a:t>epsilon</a:t>
            </a:r>
            <a:r>
              <a:rPr lang="es-CO" sz="1600" dirty="0"/>
              <a:t> = 0.6$</a:t>
            </a:r>
          </a:p>
        </p:txBody>
      </p:sp>
    </p:spTree>
    <p:extLst>
      <p:ext uri="{BB962C8B-B14F-4D97-AF65-F5344CB8AC3E}">
        <p14:creationId xmlns:p14="http://schemas.microsoft.com/office/powerpoint/2010/main" val="90018044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6A744DF-6431-A9C6-8711-92D20C417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73" y="2063578"/>
            <a:ext cx="3152230" cy="33239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5FD26E-7E40-3C2D-004D-049FC25E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806" y="148967"/>
            <a:ext cx="2692400" cy="2235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D87E6C-4CDC-62E1-AC50-F2073BED2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24" y="335140"/>
            <a:ext cx="3152230" cy="50524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F1433CD-36DB-489E-234E-965B62837492}"/>
              </a:ext>
            </a:extLst>
          </p:cNvPr>
          <p:cNvSpPr txBox="1"/>
          <p:nvPr/>
        </p:nvSpPr>
        <p:spPr>
          <a:xfrm>
            <a:off x="8068962" y="4695048"/>
            <a:ext cx="3632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 err="1"/>
              <a:t>Order</a:t>
            </a:r>
            <a:r>
              <a:rPr lang="es-CO" sz="1200" dirty="0"/>
              <a:t> </a:t>
            </a:r>
            <a:r>
              <a:rPr lang="es-CO" sz="1200" dirty="0" err="1"/>
              <a:t>parameter</a:t>
            </a:r>
            <a:r>
              <a:rPr lang="es-CO" sz="1200" dirty="0"/>
              <a:t> </a:t>
            </a:r>
            <a:r>
              <a:rPr lang="es-CO" sz="1200" dirty="0" err="1"/>
              <a:t>magnitude</a:t>
            </a:r>
            <a:r>
              <a:rPr lang="es-CO" sz="1200" dirty="0"/>
              <a:t> (top </a:t>
            </a:r>
            <a:r>
              <a:rPr lang="es-CO" sz="1200" dirty="0" err="1"/>
              <a:t>row</a:t>
            </a:r>
            <a:r>
              <a:rPr lang="es-CO" sz="1200" dirty="0"/>
              <a:t>) and </a:t>
            </a:r>
            <a:r>
              <a:rPr lang="es-CO" sz="1200" dirty="0" err="1"/>
              <a:t>phase</a:t>
            </a:r>
            <a:r>
              <a:rPr lang="es-CO" sz="1200" dirty="0"/>
              <a:t> (bottom </a:t>
            </a:r>
            <a:r>
              <a:rPr lang="es-CO" sz="1200" dirty="0" err="1"/>
              <a:t>row</a:t>
            </a:r>
            <a:r>
              <a:rPr lang="es-CO" sz="1200" dirty="0"/>
              <a:t>)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defects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radius</a:t>
            </a:r>
            <a:r>
              <a:rPr lang="es-CO" sz="1200" dirty="0"/>
              <a:t> $r = 1.20\,\xi$ (a), $r = 2.90\,\xi$ (b), and $r = 4.60\,\xi$ (c)~$\</a:t>
            </a:r>
            <a:r>
              <a:rPr lang="es-CO" sz="1200" dirty="0" err="1"/>
              <a:t>mu$m</a:t>
            </a:r>
            <a:r>
              <a:rPr lang="es-CO" sz="1200" dirty="0"/>
              <a:t> </a:t>
            </a:r>
            <a:r>
              <a:rPr lang="es-CO" sz="1200" dirty="0" err="1"/>
              <a:t>under</a:t>
            </a:r>
            <a:r>
              <a:rPr lang="es-CO" sz="1200" dirty="0"/>
              <a:t> </a:t>
            </a:r>
            <a:r>
              <a:rPr lang="es-CO" sz="1200" dirty="0" err="1"/>
              <a:t>different</a:t>
            </a:r>
            <a:r>
              <a:rPr lang="es-CO" sz="1200" dirty="0"/>
              <a:t> </a:t>
            </a:r>
            <a:r>
              <a:rPr lang="es-CO" sz="1200" dirty="0" err="1"/>
              <a:t>applied</a:t>
            </a:r>
            <a:r>
              <a:rPr lang="es-CO" sz="1200" dirty="0"/>
              <a:t> </a:t>
            </a:r>
            <a:r>
              <a:rPr lang="es-CO" sz="1200" dirty="0" err="1"/>
              <a:t>magnetic</a:t>
            </a:r>
            <a:r>
              <a:rPr lang="es-CO" sz="1200" dirty="0"/>
              <a:t> </a:t>
            </a:r>
            <a:r>
              <a:rPr lang="es-CO" sz="1200" dirty="0" err="1"/>
              <a:t>fields</a:t>
            </a:r>
            <a:r>
              <a:rPr lang="es-CO" sz="1200" dirty="0"/>
              <a:t>. </a:t>
            </a:r>
            <a:r>
              <a:rPr lang="es-CO" sz="1200" dirty="0" err="1"/>
              <a:t>From</a:t>
            </a:r>
            <a:r>
              <a:rPr lang="es-CO" sz="1200" dirty="0"/>
              <a:t> </a:t>
            </a:r>
            <a:r>
              <a:rPr lang="es-CO" sz="1200" dirty="0" err="1"/>
              <a:t>left</a:t>
            </a:r>
            <a:r>
              <a:rPr lang="es-CO" sz="1200" dirty="0"/>
              <a:t>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dirty="0" err="1"/>
              <a:t>right</a:t>
            </a:r>
            <a:r>
              <a:rPr lang="es-CO" sz="1200" dirty="0"/>
              <a:t>,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columns</a:t>
            </a:r>
            <a:r>
              <a:rPr lang="es-CO" sz="1200" dirty="0"/>
              <a:t> </a:t>
            </a:r>
            <a:r>
              <a:rPr lang="es-CO" sz="1200" dirty="0" err="1"/>
              <a:t>correspond</a:t>
            </a:r>
            <a:r>
              <a:rPr lang="es-CO" sz="1200" dirty="0"/>
              <a:t>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dirty="0" err="1"/>
              <a:t>increasing</a:t>
            </a:r>
            <a:r>
              <a:rPr lang="es-CO" sz="1200" dirty="0"/>
              <a:t> </a:t>
            </a:r>
            <a:r>
              <a:rPr lang="es-CO" sz="1200" dirty="0" err="1"/>
              <a:t>field</a:t>
            </a:r>
            <a:r>
              <a:rPr lang="es-CO" sz="1200" dirty="0"/>
              <a:t> </a:t>
            </a:r>
            <a:r>
              <a:rPr lang="es-CO" sz="1200" dirty="0" err="1"/>
              <a:t>values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0.55, 0.85, and 1.5 \</a:t>
            </a:r>
            <a:r>
              <a:rPr lang="es-CO" sz="1200" dirty="0" err="1"/>
              <a:t>textcolor</a:t>
            </a:r>
            <a:r>
              <a:rPr lang="es-CO" sz="1200" dirty="0"/>
              <a:t>{blue}{(in </a:t>
            </a:r>
            <a:r>
              <a:rPr lang="es-CO" sz="1200" dirty="0" err="1"/>
              <a:t>units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$H_{c2}$)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EBB4A4-585E-FD99-E4EB-31053643CBD9}"/>
              </a:ext>
            </a:extLst>
          </p:cNvPr>
          <p:cNvSpPr txBox="1"/>
          <p:nvPr/>
        </p:nvSpPr>
        <p:spPr>
          <a:xfrm>
            <a:off x="8427308" y="2570205"/>
            <a:ext cx="34138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 err="1"/>
              <a:t>Current</a:t>
            </a:r>
            <a:r>
              <a:rPr lang="es-CO" sz="1200" dirty="0"/>
              <a:t>–</a:t>
            </a:r>
            <a:r>
              <a:rPr lang="es-CO" sz="1200" dirty="0" err="1"/>
              <a:t>density</a:t>
            </a:r>
            <a:r>
              <a:rPr lang="es-CO" sz="1200" dirty="0"/>
              <a:t> </a:t>
            </a:r>
            <a:r>
              <a:rPr lang="es-CO" sz="1200" dirty="0" err="1"/>
              <a:t>distribution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different</a:t>
            </a:r>
            <a:r>
              <a:rPr lang="es-CO" sz="1200" dirty="0"/>
              <a:t> </a:t>
            </a:r>
            <a:r>
              <a:rPr lang="es-CO" sz="1200" dirty="0" err="1"/>
              <a:t>defect</a:t>
            </a:r>
            <a:r>
              <a:rPr lang="es-CO" sz="1200" dirty="0"/>
              <a:t> </a:t>
            </a:r>
            <a:r>
              <a:rPr lang="es-CO" sz="1200" dirty="0" err="1"/>
              <a:t>geometries</a:t>
            </a:r>
            <a:r>
              <a:rPr lang="es-CO" sz="1200" dirty="0"/>
              <a:t>.  Top: triangular and </a:t>
            </a:r>
            <a:r>
              <a:rPr lang="es-CO" sz="1200" dirty="0" err="1"/>
              <a:t>square</a:t>
            </a:r>
            <a:r>
              <a:rPr lang="es-CO" sz="1200" dirty="0"/>
              <a:t> </a:t>
            </a:r>
            <a:r>
              <a:rPr lang="es-CO" sz="1200" dirty="0" err="1"/>
              <a:t>defects</a:t>
            </a:r>
            <a:r>
              <a:rPr lang="es-CO" sz="1200" dirty="0"/>
              <a:t>. </a:t>
            </a:r>
          </a:p>
          <a:p>
            <a:pPr algn="just"/>
            <a:r>
              <a:rPr lang="es-CO" sz="1200" dirty="0"/>
              <a:t>Bottom: circular </a:t>
            </a:r>
            <a:r>
              <a:rPr lang="es-CO" sz="1200" dirty="0" err="1"/>
              <a:t>defects</a:t>
            </a:r>
            <a:r>
              <a:rPr lang="es-CO" sz="1200" dirty="0"/>
              <a:t> </a:t>
            </a:r>
            <a:r>
              <a:rPr lang="es-CO" sz="1200" dirty="0" err="1"/>
              <a:t>with</a:t>
            </a:r>
            <a:r>
              <a:rPr lang="es-CO" sz="1200" dirty="0"/>
              <a:t> </a:t>
            </a:r>
            <a:r>
              <a:rPr lang="es-CO" sz="1200" dirty="0" err="1"/>
              <a:t>radii</a:t>
            </a:r>
            <a:r>
              <a:rPr lang="es-CO" sz="1200" dirty="0"/>
              <a:t> $R/\xi = 2.0$ ($1\,\mu\</a:t>
            </a:r>
            <a:r>
              <a:rPr lang="es-CO" sz="1200" dirty="0" err="1"/>
              <a:t>mathrm</a:t>
            </a:r>
            <a:r>
              <a:rPr lang="es-CO" sz="1200" dirty="0"/>
              <a:t>{m}$) and $R/\xi = 4.0$ ($2\,\mu\</a:t>
            </a:r>
            <a:r>
              <a:rPr lang="es-CO" sz="1200" dirty="0" err="1"/>
              <a:t>mathrm</a:t>
            </a:r>
            <a:r>
              <a:rPr lang="es-CO" sz="1200" dirty="0"/>
              <a:t>{m}$). </a:t>
            </a:r>
            <a:r>
              <a:rPr lang="es-CO" sz="1200" dirty="0" err="1"/>
              <a:t>Additionally</a:t>
            </a:r>
            <a:r>
              <a:rPr lang="es-CO" sz="1200" dirty="0"/>
              <a:t>, in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two</a:t>
            </a:r>
            <a:r>
              <a:rPr lang="es-CO" sz="1200" dirty="0"/>
              <a:t> </a:t>
            </a:r>
            <a:r>
              <a:rPr lang="es-CO" sz="1200" dirty="0" err="1"/>
              <a:t>lower</a:t>
            </a:r>
            <a:r>
              <a:rPr lang="es-CO" sz="1200" dirty="0"/>
              <a:t> </a:t>
            </a:r>
            <a:r>
              <a:rPr lang="es-CO" sz="1200" dirty="0" err="1"/>
              <a:t>panels</a:t>
            </a:r>
            <a:r>
              <a:rPr lang="es-CO" sz="1200" dirty="0"/>
              <a:t>,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current</a:t>
            </a:r>
            <a:r>
              <a:rPr lang="es-CO" sz="1200" dirty="0"/>
              <a:t> </a:t>
            </a:r>
            <a:r>
              <a:rPr lang="es-CO" sz="1200" dirty="0" err="1"/>
              <a:t>streamlines</a:t>
            </a:r>
            <a:r>
              <a:rPr lang="es-CO" sz="1200" dirty="0"/>
              <a:t> are </a:t>
            </a:r>
            <a:r>
              <a:rPr lang="es-CO" sz="1200" dirty="0" err="1"/>
              <a:t>observed</a:t>
            </a:r>
            <a:r>
              <a:rPr lang="es-CO" sz="1200" dirty="0"/>
              <a:t>,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two</a:t>
            </a:r>
            <a:r>
              <a:rPr lang="es-CO" sz="1200" dirty="0"/>
              <a:t> </a:t>
            </a:r>
            <a:r>
              <a:rPr lang="es-CO" sz="1200" dirty="0" err="1"/>
              <a:t>different</a:t>
            </a:r>
            <a:r>
              <a:rPr lang="es-CO" sz="1200" dirty="0"/>
              <a:t> </a:t>
            </a:r>
            <a:r>
              <a:rPr lang="es-CO" sz="1200" dirty="0" err="1"/>
              <a:t>values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radius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internal</a:t>
            </a:r>
            <a:r>
              <a:rPr lang="es-CO" sz="1200" dirty="0"/>
              <a:t> circular </a:t>
            </a:r>
            <a:r>
              <a:rPr lang="es-CO" sz="1200" dirty="0" err="1"/>
              <a:t>fault</a:t>
            </a:r>
            <a:r>
              <a:rPr lang="es-CO" sz="12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C69989-B004-0CF5-1099-98184A18AAFB}"/>
              </a:ext>
            </a:extLst>
          </p:cNvPr>
          <p:cNvSpPr txBox="1"/>
          <p:nvPr/>
        </p:nvSpPr>
        <p:spPr>
          <a:xfrm>
            <a:off x="255181" y="148967"/>
            <a:ext cx="421049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300" dirty="0" err="1"/>
              <a:t>Schematic</a:t>
            </a:r>
            <a:r>
              <a:rPr lang="es-CO" sz="1300" dirty="0"/>
              <a:t> 3D </a:t>
            </a:r>
            <a:r>
              <a:rPr lang="es-CO" sz="1300" dirty="0" err="1"/>
              <a:t>view</a:t>
            </a:r>
            <a:r>
              <a:rPr lang="es-CO" sz="1300" dirty="0"/>
              <a:t> </a:t>
            </a:r>
            <a:r>
              <a:rPr lang="es-CO" sz="1300" dirty="0" err="1"/>
              <a:t>of</a:t>
            </a:r>
            <a:r>
              <a:rPr lang="es-CO" sz="1300" dirty="0"/>
              <a:t> </a:t>
            </a:r>
            <a:r>
              <a:rPr lang="es-CO" sz="1300" dirty="0" err="1"/>
              <a:t>the</a:t>
            </a:r>
            <a:r>
              <a:rPr lang="es-CO" sz="1300" dirty="0"/>
              <a:t> </a:t>
            </a:r>
            <a:r>
              <a:rPr lang="es-CO" sz="1300" dirty="0" err="1"/>
              <a:t>simulated</a:t>
            </a:r>
            <a:r>
              <a:rPr lang="es-CO" sz="1300" dirty="0"/>
              <a:t> hexagonal </a:t>
            </a:r>
            <a:r>
              <a:rPr lang="es-CO" sz="1300" dirty="0" err="1"/>
              <a:t>superconducting</a:t>
            </a:r>
            <a:r>
              <a:rPr lang="es-CO" sz="1300" dirty="0"/>
              <a:t> film </a:t>
            </a:r>
            <a:r>
              <a:rPr lang="es-CO" sz="1300" dirty="0" err="1"/>
              <a:t>with</a:t>
            </a:r>
            <a:r>
              <a:rPr lang="es-CO" sz="1300" dirty="0"/>
              <a:t> </a:t>
            </a:r>
            <a:r>
              <a:rPr lang="es-CO" sz="1300" dirty="0" err="1"/>
              <a:t>side</a:t>
            </a:r>
            <a:r>
              <a:rPr lang="es-CO" sz="1300" dirty="0"/>
              <a:t> </a:t>
            </a:r>
            <a:r>
              <a:rPr lang="es-CO" sz="1300" dirty="0" err="1"/>
              <a:t>length</a:t>
            </a:r>
            <a:r>
              <a:rPr lang="es-CO" sz="1300" dirty="0"/>
              <a:t> $L = 8\,\xi$ ($4\ \mu\</a:t>
            </a:r>
            <a:r>
              <a:rPr lang="es-CO" sz="1300" dirty="0" err="1"/>
              <a:t>text</a:t>
            </a:r>
            <a:r>
              <a:rPr lang="es-CO" sz="1300" dirty="0"/>
              <a:t>{m}$) and </a:t>
            </a:r>
            <a:r>
              <a:rPr lang="es-CO" sz="1300" dirty="0" err="1"/>
              <a:t>thickness</a:t>
            </a:r>
            <a:r>
              <a:rPr lang="es-CO" sz="1300" dirty="0"/>
              <a:t> $d = 0.2\,\xi$ ($0.1\ \mu\</a:t>
            </a:r>
            <a:r>
              <a:rPr lang="es-CO" sz="1300" dirty="0" err="1"/>
              <a:t>text</a:t>
            </a:r>
            <a:r>
              <a:rPr lang="es-CO" sz="1300" dirty="0"/>
              <a:t>{m}$).  </a:t>
            </a:r>
            <a:r>
              <a:rPr lang="es-CO" sz="1300" dirty="0" err="1"/>
              <a:t>The</a:t>
            </a:r>
            <a:r>
              <a:rPr lang="es-CO" sz="1300" dirty="0"/>
              <a:t> central </a:t>
            </a:r>
            <a:r>
              <a:rPr lang="es-CO" sz="1300" dirty="0" err="1"/>
              <a:t>defect</a:t>
            </a:r>
            <a:r>
              <a:rPr lang="es-CO" sz="1300" dirty="0"/>
              <a:t> </a:t>
            </a:r>
            <a:r>
              <a:rPr lang="es-CO" sz="1300" dirty="0" err="1"/>
              <a:t>takes</a:t>
            </a:r>
            <a:r>
              <a:rPr lang="es-CO" sz="1300" dirty="0"/>
              <a:t> </a:t>
            </a:r>
            <a:r>
              <a:rPr lang="es-CO" sz="1300" dirty="0" err="1"/>
              <a:t>different</a:t>
            </a:r>
            <a:r>
              <a:rPr lang="es-CO" sz="1300" dirty="0"/>
              <a:t> </a:t>
            </a:r>
            <a:r>
              <a:rPr lang="es-CO" sz="1300" dirty="0" err="1"/>
              <a:t>geometries</a:t>
            </a:r>
            <a:r>
              <a:rPr lang="es-CO" sz="1300" dirty="0"/>
              <a:t> (</a:t>
            </a:r>
            <a:r>
              <a:rPr lang="es-CO" sz="1300" dirty="0" err="1"/>
              <a:t>circle</a:t>
            </a:r>
            <a:r>
              <a:rPr lang="es-CO" sz="1300" dirty="0"/>
              <a:t> and regular </a:t>
            </a:r>
            <a:r>
              <a:rPr lang="es-CO" sz="1300" dirty="0" err="1"/>
              <a:t>polygons</a:t>
            </a:r>
            <a:r>
              <a:rPr lang="es-CO" sz="1300" dirty="0"/>
              <a:t>), </a:t>
            </a:r>
            <a:r>
              <a:rPr lang="es-CO" sz="1300" dirty="0" err="1"/>
              <a:t>all</a:t>
            </a:r>
            <a:r>
              <a:rPr lang="es-CO" sz="1300" dirty="0"/>
              <a:t> </a:t>
            </a:r>
            <a:r>
              <a:rPr lang="es-CO" sz="1300" dirty="0" err="1"/>
              <a:t>scaled</a:t>
            </a:r>
            <a:r>
              <a:rPr lang="es-CO" sz="1300" dirty="0"/>
              <a:t> </a:t>
            </a:r>
            <a:r>
              <a:rPr lang="es-CO" sz="1300" dirty="0" err="1"/>
              <a:t>to</a:t>
            </a:r>
            <a:r>
              <a:rPr lang="es-CO" sz="1300" dirty="0"/>
              <a:t> </a:t>
            </a:r>
            <a:r>
              <a:rPr lang="es-CO" sz="1300" dirty="0" err="1"/>
              <a:t>the</a:t>
            </a:r>
            <a:r>
              <a:rPr lang="es-CO" sz="1300" dirty="0"/>
              <a:t> </a:t>
            </a:r>
            <a:r>
              <a:rPr lang="es-CO" sz="1300" dirty="0" err="1"/>
              <a:t>same</a:t>
            </a:r>
            <a:r>
              <a:rPr lang="es-CO" sz="1300" dirty="0"/>
              <a:t> </a:t>
            </a:r>
            <a:r>
              <a:rPr lang="es-CO" sz="1300" dirty="0" err="1"/>
              <a:t>reference</a:t>
            </a:r>
            <a:r>
              <a:rPr lang="es-CO" sz="1300" dirty="0"/>
              <a:t> </a:t>
            </a:r>
            <a:r>
              <a:rPr lang="es-CO" sz="1300" dirty="0" err="1"/>
              <a:t>area</a:t>
            </a:r>
            <a:r>
              <a:rPr lang="es-CO" sz="1300" dirty="0"/>
              <a:t> </a:t>
            </a:r>
            <a:r>
              <a:rPr lang="es-CO" sz="1300" dirty="0" err="1"/>
              <a:t>corresponding</a:t>
            </a:r>
            <a:r>
              <a:rPr lang="es-CO" sz="1300" dirty="0"/>
              <a:t> </a:t>
            </a:r>
            <a:r>
              <a:rPr lang="es-CO" sz="1300" dirty="0" err="1"/>
              <a:t>to</a:t>
            </a:r>
            <a:r>
              <a:rPr lang="es-CO" sz="1300" dirty="0"/>
              <a:t> a </a:t>
            </a:r>
            <a:r>
              <a:rPr lang="es-CO" sz="1300" dirty="0" err="1"/>
              <a:t>circle</a:t>
            </a:r>
            <a:r>
              <a:rPr lang="es-CO" sz="1300" dirty="0"/>
              <a:t> </a:t>
            </a:r>
            <a:r>
              <a:rPr lang="es-CO" sz="1300" dirty="0" err="1"/>
              <a:t>of</a:t>
            </a:r>
            <a:r>
              <a:rPr lang="es-CO" sz="1300" dirty="0"/>
              <a:t> </a:t>
            </a:r>
            <a:r>
              <a:rPr lang="es-CO" sz="1300" dirty="0" err="1"/>
              <a:t>radius</a:t>
            </a:r>
            <a:r>
              <a:rPr lang="es-CO" sz="1300" dirty="0"/>
              <a:t> $r = 2\,\xi$ ($1\ \mu\</a:t>
            </a:r>
            <a:r>
              <a:rPr lang="es-CO" sz="1300" dirty="0" err="1"/>
              <a:t>text</a:t>
            </a:r>
            <a:r>
              <a:rPr lang="es-CO" sz="1300" dirty="0"/>
              <a:t>{m}$).  Blue and </a:t>
            </a:r>
            <a:r>
              <a:rPr lang="es-CO" sz="1300" dirty="0" err="1"/>
              <a:t>brown</a:t>
            </a:r>
            <a:r>
              <a:rPr lang="es-CO" sz="1300" dirty="0"/>
              <a:t> </a:t>
            </a:r>
            <a:r>
              <a:rPr lang="es-CO" sz="1300" dirty="0" err="1"/>
              <a:t>regions</a:t>
            </a:r>
            <a:r>
              <a:rPr lang="es-CO" sz="1300" dirty="0"/>
              <a:t> denote </a:t>
            </a:r>
            <a:r>
              <a:rPr lang="es-CO" sz="1300" dirty="0" err="1"/>
              <a:t>source</a:t>
            </a:r>
            <a:r>
              <a:rPr lang="es-CO" sz="1300" dirty="0"/>
              <a:t> and </a:t>
            </a:r>
            <a:r>
              <a:rPr lang="es-CO" sz="1300" dirty="0" err="1"/>
              <a:t>drain</a:t>
            </a:r>
            <a:r>
              <a:rPr lang="es-CO" sz="1300" dirty="0"/>
              <a:t> </a:t>
            </a:r>
            <a:r>
              <a:rPr lang="es-CO" sz="1300" dirty="0" err="1"/>
              <a:t>contacts</a:t>
            </a:r>
            <a:r>
              <a:rPr lang="es-CO" sz="1300" dirty="0"/>
              <a:t>, </a:t>
            </a:r>
            <a:r>
              <a:rPr lang="es-CO" sz="1300" dirty="0" err="1"/>
              <a:t>with</a:t>
            </a:r>
            <a:r>
              <a:rPr lang="es-CO" sz="1300" dirty="0"/>
              <a:t> probe </a:t>
            </a:r>
            <a:r>
              <a:rPr lang="es-CO" sz="1300" dirty="0" err="1"/>
              <a:t>points</a:t>
            </a:r>
            <a:r>
              <a:rPr lang="es-CO" sz="1300" dirty="0"/>
              <a:t> </a:t>
            </a:r>
            <a:r>
              <a:rPr lang="es-CO" sz="1300" dirty="0" err="1"/>
              <a:t>for</a:t>
            </a:r>
            <a:r>
              <a:rPr lang="es-CO" sz="1300" dirty="0"/>
              <a:t> </a:t>
            </a:r>
            <a:r>
              <a:rPr lang="es-CO" sz="1300" dirty="0" err="1"/>
              <a:t>voltage</a:t>
            </a:r>
            <a:r>
              <a:rPr lang="es-CO" sz="1300" dirty="0"/>
              <a:t> </a:t>
            </a:r>
            <a:r>
              <a:rPr lang="es-CO" sz="1300" dirty="0" err="1"/>
              <a:t>measurement</a:t>
            </a:r>
            <a:r>
              <a:rPr lang="es-CO" sz="1300" dirty="0"/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27FDC3E-BE67-A94F-2198-0D2CAE0181B8}"/>
              </a:ext>
            </a:extLst>
          </p:cNvPr>
          <p:cNvSpPr txBox="1"/>
          <p:nvPr/>
        </p:nvSpPr>
        <p:spPr>
          <a:xfrm>
            <a:off x="159488" y="5284381"/>
            <a:ext cx="18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A2B5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Physica </a:t>
            </a:r>
            <a:r>
              <a:rPr lang="es-CO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Scripta</a:t>
            </a:r>
            <a:r>
              <a:rPr lang="es-CO" dirty="0">
                <a:solidFill>
                  <a:srgbClr val="FF0000"/>
                </a:solidFill>
              </a:rPr>
              <a:t>, 2026, 103.</a:t>
            </a:r>
          </a:p>
        </p:txBody>
      </p:sp>
    </p:spTree>
    <p:extLst>
      <p:ext uri="{BB962C8B-B14F-4D97-AF65-F5344CB8AC3E}">
        <p14:creationId xmlns:p14="http://schemas.microsoft.com/office/powerpoint/2010/main" val="2930178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6F1CC12-EBB2-AD06-2DC6-D586C764D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8" y="2673437"/>
            <a:ext cx="4421541" cy="30347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13D440-6CBD-2D6F-C29C-70FAE940A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919" y="394215"/>
            <a:ext cx="4421541" cy="32368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5BD9FA-416E-7E54-7C2B-1BC6553BAA7C}"/>
              </a:ext>
            </a:extLst>
          </p:cNvPr>
          <p:cNvSpPr txBox="1"/>
          <p:nvPr/>
        </p:nvSpPr>
        <p:spPr>
          <a:xfrm>
            <a:off x="589287" y="1750107"/>
            <a:ext cx="4337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$V/V_0$ as a </a:t>
            </a: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$J/J_0$ </a:t>
            </a:r>
            <a:r>
              <a:rPr lang="es-CO" dirty="0" err="1"/>
              <a:t>for</a:t>
            </a:r>
            <a:r>
              <a:rPr lang="es-CO" dirty="0"/>
              <a:t> a triangular </a:t>
            </a:r>
            <a:r>
              <a:rPr lang="es-CO" dirty="0" err="1"/>
              <a:t>defect</a:t>
            </a:r>
            <a:r>
              <a:rPr lang="es-CO" dirty="0"/>
              <a:t> </a:t>
            </a:r>
            <a:r>
              <a:rPr lang="es-CO" dirty="0" err="1"/>
              <a:t>under</a:t>
            </a:r>
            <a:r>
              <a:rPr lang="es-CO" dirty="0"/>
              <a:t> in-plane </a:t>
            </a:r>
            <a:r>
              <a:rPr lang="es-CO" dirty="0" err="1"/>
              <a:t>rotations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an</a:t>
            </a:r>
            <a:r>
              <a:rPr lang="es-CO" dirty="0"/>
              <a:t> angle $\theta$.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C47E82-E3D2-386E-3A4E-ECF05F694027}"/>
              </a:ext>
            </a:extLst>
          </p:cNvPr>
          <p:cNvSpPr txBox="1"/>
          <p:nvPr/>
        </p:nvSpPr>
        <p:spPr>
          <a:xfrm>
            <a:off x="6709719" y="3867665"/>
            <a:ext cx="5115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$V/V_0$ as a </a:t>
            </a: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$J/J_0$ </a:t>
            </a:r>
            <a:r>
              <a:rPr lang="es-CO" dirty="0" err="1"/>
              <a:t>for</a:t>
            </a:r>
            <a:r>
              <a:rPr lang="es-CO" dirty="0"/>
              <a:t> a </a:t>
            </a:r>
            <a:r>
              <a:rPr lang="es-CO" dirty="0" err="1"/>
              <a:t>square</a:t>
            </a:r>
            <a:r>
              <a:rPr lang="es-CO" dirty="0"/>
              <a:t> </a:t>
            </a:r>
            <a:r>
              <a:rPr lang="es-CO" dirty="0" err="1"/>
              <a:t>defect</a:t>
            </a:r>
            <a:r>
              <a:rPr lang="es-CO" dirty="0"/>
              <a:t> </a:t>
            </a:r>
            <a:r>
              <a:rPr lang="es-CO" dirty="0" err="1"/>
              <a:t>under</a:t>
            </a:r>
            <a:r>
              <a:rPr lang="es-CO" dirty="0"/>
              <a:t> in-plane </a:t>
            </a:r>
            <a:r>
              <a:rPr lang="es-CO" dirty="0" err="1"/>
              <a:t>rotations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an</a:t>
            </a:r>
            <a:r>
              <a:rPr lang="es-CO" dirty="0"/>
              <a:t> angle $\theta$.</a:t>
            </a:r>
          </a:p>
        </p:txBody>
      </p:sp>
    </p:spTree>
    <p:extLst>
      <p:ext uri="{BB962C8B-B14F-4D97-AF65-F5344CB8AC3E}">
        <p14:creationId xmlns:p14="http://schemas.microsoft.com/office/powerpoint/2010/main" val="105659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117243F-D8A2-0B51-BE1A-64BE19F1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24" y="180754"/>
            <a:ext cx="5140881" cy="26785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C0E16B9-2493-2956-176A-579732CCE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74" y="3533997"/>
            <a:ext cx="6276094" cy="239897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CAC9102-980F-CAD6-D8DC-D58C62A1ED4A}"/>
              </a:ext>
            </a:extLst>
          </p:cNvPr>
          <p:cNvSpPr txBox="1"/>
          <p:nvPr/>
        </p:nvSpPr>
        <p:spPr>
          <a:xfrm>
            <a:off x="6107558" y="1775514"/>
            <a:ext cx="533754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Spatial</a:t>
            </a:r>
            <a:r>
              <a:rPr lang="es-CO" sz="1600" dirty="0"/>
              <a:t> </a:t>
            </a:r>
            <a:r>
              <a:rPr lang="es-CO" sz="1600" dirty="0" err="1"/>
              <a:t>distribution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(a)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supercurrent</a:t>
            </a:r>
            <a:r>
              <a:rPr lang="es-CO" sz="1600" dirty="0"/>
              <a:t> </a:t>
            </a:r>
            <a:r>
              <a:rPr lang="es-CO" sz="1600" dirty="0" err="1"/>
              <a:t>density</a:t>
            </a:r>
            <a:r>
              <a:rPr lang="es-CO" sz="1600" dirty="0"/>
              <a:t> and (b)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superconducting</a:t>
            </a:r>
            <a:r>
              <a:rPr lang="es-CO" sz="1600" dirty="0"/>
              <a:t> </a:t>
            </a:r>
            <a:r>
              <a:rPr lang="es-CO" sz="1600" dirty="0" err="1"/>
              <a:t>order</a:t>
            </a:r>
            <a:r>
              <a:rPr lang="es-CO" sz="1600" dirty="0"/>
              <a:t> </a:t>
            </a:r>
            <a:r>
              <a:rPr lang="es-CO" sz="1600" dirty="0" err="1"/>
              <a:t>parameter</a:t>
            </a:r>
            <a:r>
              <a:rPr lang="es-CO" sz="1600" dirty="0"/>
              <a:t> </a:t>
            </a:r>
            <a:r>
              <a:rPr lang="es-CO" sz="1600" dirty="0" err="1"/>
              <a:t>for</a:t>
            </a:r>
            <a:r>
              <a:rPr lang="es-CO" sz="1600" dirty="0"/>
              <a:t> </a:t>
            </a:r>
            <a:r>
              <a:rPr lang="es-CO" sz="1600" dirty="0" err="1"/>
              <a:t>Device</a:t>
            </a:r>
            <a:r>
              <a:rPr lang="es-CO" sz="1600" dirty="0"/>
              <a:t> 1 (</a:t>
            </a:r>
            <a:r>
              <a:rPr lang="el-GR" sz="1600" dirty="0"/>
              <a:t>κ = 3) </a:t>
            </a:r>
            <a:r>
              <a:rPr lang="es-CO" sz="1600" dirty="0" err="1"/>
              <a:t>exposed</a:t>
            </a:r>
            <a:r>
              <a:rPr lang="es-CO" sz="1600" dirty="0"/>
              <a:t> </a:t>
            </a:r>
            <a:r>
              <a:rPr lang="es-CO" sz="1600" dirty="0" err="1"/>
              <a:t>to</a:t>
            </a:r>
            <a:r>
              <a:rPr lang="es-CO" sz="1600" dirty="0"/>
              <a:t> a </a:t>
            </a:r>
            <a:r>
              <a:rPr lang="es-CO" sz="1600" dirty="0" err="1"/>
              <a:t>static</a:t>
            </a:r>
            <a:r>
              <a:rPr lang="es-CO" sz="1600" dirty="0"/>
              <a:t> </a:t>
            </a:r>
            <a:r>
              <a:rPr lang="es-CO" sz="1600" dirty="0" err="1"/>
              <a:t>magnetic</a:t>
            </a:r>
            <a:r>
              <a:rPr lang="es-CO" sz="1600" dirty="0"/>
              <a:t> </a:t>
            </a:r>
            <a:r>
              <a:rPr lang="es-CO" sz="1600" dirty="0" err="1"/>
              <a:t>field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H = 0.1 </a:t>
            </a:r>
            <a:r>
              <a:rPr lang="es-CO" sz="1600" dirty="0" err="1"/>
              <a:t>mT</a:t>
            </a:r>
            <a:r>
              <a:rPr lang="es-CO" sz="1600" dirty="0"/>
              <a:t>. </a:t>
            </a:r>
            <a:r>
              <a:rPr lang="es-CO" sz="1600" dirty="0" err="1"/>
              <a:t>The</a:t>
            </a:r>
            <a:r>
              <a:rPr lang="es-CO" sz="1600" dirty="0"/>
              <a:t> matrices </a:t>
            </a:r>
            <a:r>
              <a:rPr lang="es-CO" sz="1600" dirty="0" err="1"/>
              <a:t>contrast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evolution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mixed</a:t>
            </a:r>
            <a:r>
              <a:rPr lang="es-CO" sz="1600" dirty="0"/>
              <a:t> </a:t>
            </a:r>
            <a:r>
              <a:rPr lang="es-CO" sz="1600" dirty="0" err="1"/>
              <a:t>state</a:t>
            </a:r>
            <a:r>
              <a:rPr lang="es-CO" sz="1600" dirty="0"/>
              <a:t>, </a:t>
            </a:r>
            <a:r>
              <a:rPr lang="es-CO" sz="1600" dirty="0" err="1"/>
              <a:t>ev</a:t>
            </a:r>
            <a:r>
              <a:rPr lang="es-CO" sz="1600" dirty="0"/>
              <a:t>- </a:t>
            </a:r>
            <a:r>
              <a:rPr lang="es-CO" sz="1600" dirty="0" err="1"/>
              <a:t>idencing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asymmetry</a:t>
            </a:r>
            <a:r>
              <a:rPr lang="es-CO" sz="1600" dirty="0"/>
              <a:t> in </a:t>
            </a:r>
            <a:r>
              <a:rPr lang="es-CO" sz="1600" dirty="0" err="1"/>
              <a:t>vortex</a:t>
            </a:r>
            <a:r>
              <a:rPr lang="es-CO" sz="1600" dirty="0"/>
              <a:t> </a:t>
            </a:r>
            <a:r>
              <a:rPr lang="es-CO" sz="1600" dirty="0" err="1"/>
              <a:t>nucleation</a:t>
            </a:r>
            <a:r>
              <a:rPr lang="es-CO" sz="1600" dirty="0"/>
              <a:t> and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cur</a:t>
            </a:r>
            <a:r>
              <a:rPr lang="es-CO" sz="1600" dirty="0"/>
              <a:t>- </a:t>
            </a:r>
            <a:r>
              <a:rPr lang="es-CO" sz="1600" dirty="0" err="1"/>
              <a:t>rent</a:t>
            </a:r>
            <a:r>
              <a:rPr lang="es-CO" sz="1600" dirty="0"/>
              <a:t> </a:t>
            </a:r>
            <a:r>
              <a:rPr lang="es-CO" sz="1600" dirty="0" err="1"/>
              <a:t>crowding</a:t>
            </a:r>
            <a:r>
              <a:rPr lang="es-CO" sz="1600" dirty="0"/>
              <a:t> </a:t>
            </a:r>
            <a:r>
              <a:rPr lang="es-CO" sz="1600" dirty="0" err="1"/>
              <a:t>phenomenon</a:t>
            </a:r>
            <a:r>
              <a:rPr lang="es-CO" sz="1600" dirty="0"/>
              <a:t> </a:t>
            </a:r>
            <a:r>
              <a:rPr lang="es-CO" sz="1600" dirty="0" err="1"/>
              <a:t>upon</a:t>
            </a:r>
            <a:r>
              <a:rPr lang="es-CO" sz="1600" dirty="0"/>
              <a:t> </a:t>
            </a:r>
            <a:r>
              <a:rPr lang="es-CO" sz="1600" dirty="0" err="1"/>
              <a:t>reversing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polarity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</a:t>
            </a:r>
            <a:r>
              <a:rPr lang="es-CO" sz="1600" dirty="0" err="1"/>
              <a:t>the</a:t>
            </a:r>
            <a:r>
              <a:rPr lang="es-CO" sz="1600" dirty="0"/>
              <a:t> </a:t>
            </a:r>
            <a:r>
              <a:rPr lang="es-CO" sz="1600" dirty="0" err="1"/>
              <a:t>transport</a:t>
            </a:r>
            <a:r>
              <a:rPr lang="es-CO" sz="1600" dirty="0"/>
              <a:t> </a:t>
            </a:r>
            <a:r>
              <a:rPr lang="es-CO" sz="1600" dirty="0" err="1"/>
              <a:t>current</a:t>
            </a:r>
            <a:r>
              <a:rPr lang="es-CO" sz="1600" dirty="0"/>
              <a:t>. 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CC02F0-1B26-0CAC-18BC-DE391F73585D}"/>
              </a:ext>
            </a:extLst>
          </p:cNvPr>
          <p:cNvSpPr txBox="1"/>
          <p:nvPr/>
        </p:nvSpPr>
        <p:spPr>
          <a:xfrm>
            <a:off x="555511" y="3022097"/>
            <a:ext cx="44018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400" dirty="0"/>
              <a:t>3D </a:t>
            </a:r>
            <a:r>
              <a:rPr lang="es-CO" sz="1400" dirty="0" err="1"/>
              <a:t>schematic</a:t>
            </a:r>
            <a:r>
              <a:rPr lang="es-CO" sz="1400" dirty="0"/>
              <a:t> </a:t>
            </a:r>
            <a:r>
              <a:rPr lang="es-CO" sz="1400" dirty="0" err="1"/>
              <a:t>representation</a:t>
            </a:r>
            <a:r>
              <a:rPr lang="es-CO" sz="1400" dirty="0"/>
              <a:t> </a:t>
            </a:r>
            <a:r>
              <a:rPr lang="es-CO" sz="1400" dirty="0" err="1"/>
              <a:t>of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asymmetric</a:t>
            </a:r>
            <a:r>
              <a:rPr lang="es-CO" sz="1400" dirty="0"/>
              <a:t> </a:t>
            </a:r>
            <a:r>
              <a:rPr lang="es-CO" sz="1400" dirty="0" err="1"/>
              <a:t>comb</a:t>
            </a:r>
            <a:r>
              <a:rPr lang="es-CO" sz="1400" dirty="0"/>
              <a:t>- </a:t>
            </a:r>
            <a:r>
              <a:rPr lang="es-CO" sz="1400" dirty="0" err="1"/>
              <a:t>shaped</a:t>
            </a:r>
            <a:r>
              <a:rPr lang="es-CO" sz="1400" dirty="0"/>
              <a:t> </a:t>
            </a:r>
            <a:r>
              <a:rPr lang="es-CO" sz="1400" dirty="0" err="1"/>
              <a:t>superconducting</a:t>
            </a:r>
            <a:r>
              <a:rPr lang="es-CO" sz="1400" dirty="0"/>
              <a:t> </a:t>
            </a:r>
            <a:r>
              <a:rPr lang="es-CO" sz="1400" dirty="0" err="1"/>
              <a:t>device</a:t>
            </a:r>
            <a:r>
              <a:rPr lang="es-CO" sz="1400" dirty="0"/>
              <a:t> </a:t>
            </a:r>
            <a:r>
              <a:rPr lang="es-CO" sz="1400" dirty="0" err="1"/>
              <a:t>geometry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superconduct</a:t>
            </a:r>
            <a:r>
              <a:rPr lang="es-CO" sz="1400" dirty="0"/>
              <a:t>- </a:t>
            </a:r>
            <a:r>
              <a:rPr lang="es-CO" sz="1400" dirty="0" err="1"/>
              <a:t>ing</a:t>
            </a:r>
            <a:r>
              <a:rPr lang="es-CO" sz="1400" dirty="0"/>
              <a:t> </a:t>
            </a:r>
            <a:r>
              <a:rPr lang="es-CO" sz="1400" dirty="0" err="1"/>
              <a:t>domain</a:t>
            </a:r>
            <a:r>
              <a:rPr lang="es-CO" sz="1400" dirty="0"/>
              <a:t> (</a:t>
            </a:r>
            <a:r>
              <a:rPr lang="el-GR" sz="1400" dirty="0"/>
              <a:t>Ω, </a:t>
            </a:r>
            <a:r>
              <a:rPr lang="es-CO" sz="1400" dirty="0"/>
              <a:t>gray) </a:t>
            </a:r>
            <a:r>
              <a:rPr lang="es-CO" sz="1400" dirty="0" err="1"/>
              <a:t>is</a:t>
            </a:r>
            <a:r>
              <a:rPr lang="es-CO" sz="1400" dirty="0"/>
              <a:t> </a:t>
            </a:r>
            <a:r>
              <a:rPr lang="es-CO" sz="1400" dirty="0" err="1"/>
              <a:t>bounded</a:t>
            </a:r>
            <a:r>
              <a:rPr lang="es-CO" sz="1400" dirty="0"/>
              <a:t> </a:t>
            </a:r>
            <a:r>
              <a:rPr lang="es-CO" sz="1400" dirty="0" err="1"/>
              <a:t>by</a:t>
            </a:r>
            <a:r>
              <a:rPr lang="es-CO" sz="1400" dirty="0"/>
              <a:t> </a:t>
            </a:r>
            <a:r>
              <a:rPr lang="es-CO" sz="1400" dirty="0" err="1"/>
              <a:t>its</a:t>
            </a:r>
            <a:r>
              <a:rPr lang="es-CO" sz="1400" dirty="0"/>
              <a:t> </a:t>
            </a:r>
            <a:r>
              <a:rPr lang="es-CO" sz="1400" dirty="0" err="1"/>
              <a:t>boundary</a:t>
            </a:r>
            <a:r>
              <a:rPr lang="es-CO" sz="1400" dirty="0"/>
              <a:t> (∂</a:t>
            </a:r>
            <a:r>
              <a:rPr lang="el-GR" sz="1400" dirty="0"/>
              <a:t>Ω).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source</a:t>
            </a:r>
            <a:r>
              <a:rPr lang="es-CO" sz="1400" dirty="0"/>
              <a:t> (blue) and </a:t>
            </a:r>
            <a:r>
              <a:rPr lang="es-CO" sz="1400" dirty="0" err="1"/>
              <a:t>drain</a:t>
            </a:r>
            <a:r>
              <a:rPr lang="es-CO" sz="1400" dirty="0"/>
              <a:t> (red) </a:t>
            </a:r>
            <a:r>
              <a:rPr lang="es-CO" sz="1400" dirty="0" err="1"/>
              <a:t>terminals</a:t>
            </a:r>
            <a:r>
              <a:rPr lang="es-CO" sz="1400" dirty="0"/>
              <a:t> are </a:t>
            </a:r>
            <a:r>
              <a:rPr lang="es-CO" sz="1400" dirty="0" err="1"/>
              <a:t>indicated</a:t>
            </a:r>
            <a:r>
              <a:rPr lang="es-CO" sz="1400" dirty="0"/>
              <a:t>. </a:t>
            </a:r>
            <a:r>
              <a:rPr lang="es-CO" sz="1400" dirty="0" err="1"/>
              <a:t>An</a:t>
            </a:r>
            <a:r>
              <a:rPr lang="es-CO" sz="1400" dirty="0"/>
              <a:t> </a:t>
            </a:r>
            <a:r>
              <a:rPr lang="es-CO" sz="1400" dirty="0" err="1"/>
              <a:t>ap</a:t>
            </a:r>
            <a:r>
              <a:rPr lang="es-CO" sz="1400" dirty="0"/>
              <a:t>- </a:t>
            </a:r>
            <a:r>
              <a:rPr lang="es-CO" sz="1400" dirty="0" err="1"/>
              <a:t>plied</a:t>
            </a:r>
            <a:r>
              <a:rPr lang="es-CO" sz="1400" dirty="0"/>
              <a:t> </a:t>
            </a:r>
            <a:r>
              <a:rPr lang="es-CO" sz="1400" dirty="0" err="1"/>
              <a:t>external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, H⃗ , and a </a:t>
            </a:r>
            <a:r>
              <a:rPr lang="es-CO" sz="1400" dirty="0" err="1"/>
              <a:t>uniformly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</a:t>
            </a:r>
            <a:r>
              <a:rPr lang="es-CO" sz="1400" dirty="0" err="1"/>
              <a:t>cur</a:t>
            </a:r>
            <a:r>
              <a:rPr lang="es-CO" sz="1400" dirty="0"/>
              <a:t>- </a:t>
            </a:r>
            <a:r>
              <a:rPr lang="es-CO" sz="1400" dirty="0" err="1"/>
              <a:t>rent</a:t>
            </a:r>
            <a:r>
              <a:rPr lang="es-CO" sz="1400" dirty="0"/>
              <a:t> </a:t>
            </a:r>
            <a:r>
              <a:rPr lang="es-CO" sz="1400" dirty="0" err="1"/>
              <a:t>density</a:t>
            </a:r>
            <a:r>
              <a:rPr lang="es-CO" sz="1400" dirty="0"/>
              <a:t>, J⃗, are </a:t>
            </a:r>
            <a:r>
              <a:rPr lang="es-CO" sz="1400" dirty="0" err="1"/>
              <a:t>denoted</a:t>
            </a:r>
            <a:r>
              <a:rPr lang="es-CO" sz="1400" dirty="0"/>
              <a:t> </a:t>
            </a:r>
            <a:r>
              <a:rPr lang="es-CO" sz="1400" dirty="0" err="1"/>
              <a:t>by</a:t>
            </a:r>
            <a:r>
              <a:rPr lang="es-CO" sz="1400" dirty="0"/>
              <a:t> </a:t>
            </a:r>
            <a:r>
              <a:rPr lang="es-CO" sz="1400" dirty="0" err="1"/>
              <a:t>vectors</a:t>
            </a:r>
            <a:r>
              <a:rPr lang="es-CO" sz="1400" dirty="0"/>
              <a:t>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magnetic</a:t>
            </a:r>
            <a:r>
              <a:rPr lang="es-CO" sz="1400" dirty="0"/>
              <a:t> </a:t>
            </a:r>
            <a:r>
              <a:rPr lang="es-CO" sz="1400" dirty="0" err="1"/>
              <a:t>field</a:t>
            </a:r>
            <a:r>
              <a:rPr lang="es-CO" sz="1400" dirty="0"/>
              <a:t> H⃗ </a:t>
            </a:r>
            <a:r>
              <a:rPr lang="es-CO" sz="1400" dirty="0" err="1"/>
              <a:t>is</a:t>
            </a:r>
            <a:r>
              <a:rPr lang="es-CO" sz="1400" dirty="0"/>
              <a:t> </a:t>
            </a:r>
            <a:r>
              <a:rPr lang="es-CO" sz="1400" dirty="0" err="1"/>
              <a:t>applied</a:t>
            </a:r>
            <a:r>
              <a:rPr lang="es-CO" sz="1400" dirty="0"/>
              <a:t> at a </a:t>
            </a:r>
            <a:r>
              <a:rPr lang="es-CO" sz="1400" dirty="0" err="1"/>
              <a:t>distance</a:t>
            </a:r>
            <a:r>
              <a:rPr lang="es-CO" sz="1400" dirty="0"/>
              <a:t> d </a:t>
            </a:r>
            <a:r>
              <a:rPr lang="es-CO" sz="1400" dirty="0" err="1"/>
              <a:t>from</a:t>
            </a:r>
            <a:r>
              <a:rPr lang="es-CO" sz="1400" dirty="0"/>
              <a:t>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source</a:t>
            </a:r>
            <a:r>
              <a:rPr lang="es-CO" sz="1400" dirty="0"/>
              <a:t> terminal.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main</a:t>
            </a:r>
            <a:r>
              <a:rPr lang="es-CO" sz="1400" dirty="0"/>
              <a:t> </a:t>
            </a:r>
            <a:r>
              <a:rPr lang="es-CO" sz="1400" dirty="0" err="1"/>
              <a:t>dimensions</a:t>
            </a:r>
            <a:r>
              <a:rPr lang="es-CO" sz="1400" dirty="0"/>
              <a:t> are </a:t>
            </a:r>
            <a:r>
              <a:rPr lang="es-CO" sz="1400" dirty="0" err="1"/>
              <a:t>the</a:t>
            </a:r>
            <a:r>
              <a:rPr lang="es-CO" sz="1400" dirty="0"/>
              <a:t> total </a:t>
            </a:r>
            <a:r>
              <a:rPr lang="es-CO" sz="1400" dirty="0" err="1"/>
              <a:t>length</a:t>
            </a:r>
            <a:r>
              <a:rPr lang="es-CO" sz="1400" dirty="0"/>
              <a:t> Lx (20 </a:t>
            </a:r>
            <a:r>
              <a:rPr lang="el-GR" sz="1400" dirty="0"/>
              <a:t>μ</a:t>
            </a:r>
            <a:r>
              <a:rPr lang="es-CO" sz="1400" dirty="0"/>
              <a:t>m),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strip</a:t>
            </a:r>
            <a:r>
              <a:rPr lang="es-CO" sz="1400" dirty="0"/>
              <a:t> </a:t>
            </a:r>
            <a:r>
              <a:rPr lang="es-CO" sz="1400" dirty="0" err="1"/>
              <a:t>height</a:t>
            </a:r>
            <a:r>
              <a:rPr lang="es-CO" sz="1400" dirty="0"/>
              <a:t> </a:t>
            </a:r>
            <a:r>
              <a:rPr lang="es-CO" sz="1400" dirty="0" err="1"/>
              <a:t>Ly</a:t>
            </a:r>
            <a:r>
              <a:rPr lang="es-CO" sz="1400" dirty="0"/>
              <a:t> (5.0 </a:t>
            </a:r>
            <a:r>
              <a:rPr lang="el-GR" sz="1400" dirty="0"/>
              <a:t>μ</a:t>
            </a:r>
            <a:r>
              <a:rPr lang="es-CO" sz="1400" dirty="0"/>
              <a:t>m), and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thickness</a:t>
            </a:r>
            <a:r>
              <a:rPr lang="es-CO" sz="1400" dirty="0"/>
              <a:t> </a:t>
            </a:r>
            <a:r>
              <a:rPr lang="es-CO" sz="1400" dirty="0" err="1"/>
              <a:t>Lz</a:t>
            </a:r>
            <a:r>
              <a:rPr lang="es-CO" sz="1400" dirty="0"/>
              <a:t> (0.1 </a:t>
            </a:r>
            <a:r>
              <a:rPr lang="el-GR" sz="1400" dirty="0"/>
              <a:t>μ</a:t>
            </a:r>
            <a:r>
              <a:rPr lang="es-CO" sz="1400" dirty="0"/>
              <a:t>m). </a:t>
            </a:r>
            <a:r>
              <a:rPr lang="es-CO" sz="1400" dirty="0" err="1"/>
              <a:t>The</a:t>
            </a:r>
            <a:r>
              <a:rPr lang="es-CO" sz="1400" dirty="0"/>
              <a:t> </a:t>
            </a:r>
            <a:r>
              <a:rPr lang="es-CO" sz="1400" dirty="0" err="1"/>
              <a:t>lower</a:t>
            </a:r>
            <a:r>
              <a:rPr lang="es-CO" sz="1400" dirty="0"/>
              <a:t> pro- file </a:t>
            </a:r>
            <a:r>
              <a:rPr lang="es-CO" sz="1400" dirty="0" err="1"/>
              <a:t>features</a:t>
            </a:r>
            <a:r>
              <a:rPr lang="es-CO" sz="1400" dirty="0"/>
              <a:t> Gaussian </a:t>
            </a:r>
            <a:r>
              <a:rPr lang="es-CO" sz="1400" dirty="0" err="1"/>
              <a:t>indentations</a:t>
            </a:r>
            <a:r>
              <a:rPr lang="es-CO" sz="1400" dirty="0"/>
              <a:t> (</a:t>
            </a:r>
            <a:r>
              <a:rPr lang="es-CO" sz="1400" dirty="0" err="1"/>
              <a:t>teeth</a:t>
            </a:r>
            <a:r>
              <a:rPr lang="es-CO" sz="1400" dirty="0"/>
              <a:t>) </a:t>
            </a:r>
            <a:r>
              <a:rPr lang="es-CO" sz="1400" dirty="0" err="1"/>
              <a:t>with</a:t>
            </a:r>
            <a:r>
              <a:rPr lang="es-CO" sz="1400" dirty="0"/>
              <a:t> a </a:t>
            </a:r>
            <a:r>
              <a:rPr lang="es-CO" sz="1400" dirty="0" err="1"/>
              <a:t>maximum</a:t>
            </a:r>
            <a:r>
              <a:rPr lang="es-CO" sz="1400" dirty="0"/>
              <a:t> </a:t>
            </a:r>
            <a:r>
              <a:rPr lang="es-CO" sz="1400" dirty="0" err="1"/>
              <a:t>depth</a:t>
            </a:r>
            <a:r>
              <a:rPr lang="es-CO" sz="1400" dirty="0"/>
              <a:t> </a:t>
            </a:r>
            <a:r>
              <a:rPr lang="es-CO" sz="1400" dirty="0" err="1"/>
              <a:t>hd</a:t>
            </a:r>
            <a:r>
              <a:rPr lang="es-CO" sz="1400" dirty="0"/>
              <a:t> (3.5 </a:t>
            </a:r>
            <a:r>
              <a:rPr lang="el-GR" sz="1400" dirty="0"/>
              <a:t>μ</a:t>
            </a:r>
            <a:r>
              <a:rPr lang="es-CO" sz="1400" dirty="0"/>
              <a:t>m), inter-</a:t>
            </a:r>
            <a:r>
              <a:rPr lang="es-CO" sz="1400" dirty="0" err="1"/>
              <a:t>tooth</a:t>
            </a:r>
            <a:r>
              <a:rPr lang="es-CO" sz="1400" dirty="0"/>
              <a:t> </a:t>
            </a:r>
            <a:r>
              <a:rPr lang="es-CO" sz="1400" dirty="0" err="1"/>
              <a:t>separation</a:t>
            </a:r>
            <a:r>
              <a:rPr lang="es-CO" sz="1400" dirty="0"/>
              <a:t> ∆x, and a </a:t>
            </a:r>
            <a:r>
              <a:rPr lang="es-CO" sz="1400" dirty="0" err="1"/>
              <a:t>geomet</a:t>
            </a:r>
            <a:r>
              <a:rPr lang="es-CO" sz="1400" dirty="0"/>
              <a:t>- </a:t>
            </a:r>
            <a:r>
              <a:rPr lang="es-CO" sz="1400" dirty="0" err="1"/>
              <a:t>ric</a:t>
            </a:r>
            <a:r>
              <a:rPr lang="es-CO" sz="1400" dirty="0"/>
              <a:t> </a:t>
            </a:r>
            <a:r>
              <a:rPr lang="es-CO" sz="1400" dirty="0" err="1"/>
              <a:t>parameter</a:t>
            </a:r>
            <a:r>
              <a:rPr lang="es-CO" sz="1400" dirty="0"/>
              <a:t> </a:t>
            </a:r>
            <a:r>
              <a:rPr lang="el-GR" sz="1400" dirty="0"/>
              <a:t>δ.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14809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E279E2C-1FEA-B37D-A905-42B6E81E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96" y="95694"/>
            <a:ext cx="7164059" cy="28433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1A38D5D-44E3-F6A4-D1D9-6509F48D7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96" y="2939017"/>
            <a:ext cx="7259376" cy="24197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1BBD119-19F0-E87D-EA9D-58AB85865017}"/>
              </a:ext>
            </a:extLst>
          </p:cNvPr>
          <p:cNvSpPr txBox="1"/>
          <p:nvPr/>
        </p:nvSpPr>
        <p:spPr>
          <a:xfrm>
            <a:off x="7759472" y="1956390"/>
            <a:ext cx="39978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 err="1"/>
              <a:t>Spatial</a:t>
            </a:r>
            <a:r>
              <a:rPr lang="es-CO" dirty="0"/>
              <a:t> </a:t>
            </a:r>
            <a:r>
              <a:rPr lang="es-CO" dirty="0" err="1"/>
              <a:t>distribution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(a)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supercurrent</a:t>
            </a:r>
            <a:r>
              <a:rPr lang="es-CO" dirty="0"/>
              <a:t> </a:t>
            </a:r>
            <a:r>
              <a:rPr lang="es-CO" dirty="0" err="1"/>
              <a:t>density</a:t>
            </a:r>
            <a:r>
              <a:rPr lang="es-CO" dirty="0"/>
              <a:t> and (b)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superconducting</a:t>
            </a:r>
            <a:r>
              <a:rPr lang="es-CO" dirty="0"/>
              <a:t> </a:t>
            </a:r>
            <a:r>
              <a:rPr lang="es-CO" dirty="0" err="1"/>
              <a:t>order</a:t>
            </a:r>
            <a:r>
              <a:rPr lang="es-CO" dirty="0"/>
              <a:t> </a:t>
            </a:r>
            <a:r>
              <a:rPr lang="es-CO" dirty="0" err="1"/>
              <a:t>parameter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Device</a:t>
            </a:r>
            <a:r>
              <a:rPr lang="es-CO" dirty="0"/>
              <a:t> 2 (a) (</a:t>
            </a:r>
            <a:r>
              <a:rPr lang="el-GR" dirty="0"/>
              <a:t>κ = 3) </a:t>
            </a:r>
            <a:r>
              <a:rPr lang="es-CO" dirty="0" err="1"/>
              <a:t>exposed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a </a:t>
            </a:r>
            <a:r>
              <a:rPr lang="es-CO" dirty="0" err="1"/>
              <a:t>static</a:t>
            </a:r>
            <a:r>
              <a:rPr lang="es-CO" dirty="0"/>
              <a:t> </a:t>
            </a:r>
            <a:r>
              <a:rPr lang="es-CO" dirty="0" err="1"/>
              <a:t>magnetic</a:t>
            </a:r>
            <a:r>
              <a:rPr lang="es-CO" dirty="0"/>
              <a:t> </a:t>
            </a:r>
            <a:r>
              <a:rPr lang="es-CO" dirty="0" err="1"/>
              <a:t>field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H = 0.5 </a:t>
            </a:r>
            <a:r>
              <a:rPr lang="es-CO" dirty="0" err="1"/>
              <a:t>mT</a:t>
            </a:r>
            <a:r>
              <a:rPr lang="es-CO" dirty="0"/>
              <a:t>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595493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E445C95-F590-77D7-6712-D736DFC5ADEA}"/>
              </a:ext>
            </a:extLst>
          </p:cNvPr>
          <p:cNvSpPr/>
          <p:nvPr/>
        </p:nvSpPr>
        <p:spPr>
          <a:xfrm>
            <a:off x="4048787" y="2340014"/>
            <a:ext cx="30524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END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815FAF-BAFA-B300-F99E-B318D42CF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76" y="342652"/>
            <a:ext cx="1241943" cy="121597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316B4E4-3552-9072-BB5B-A424C687B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4" r="2168" b="-2"/>
          <a:stretch>
            <a:fillRect/>
          </a:stretch>
        </p:blipFill>
        <p:spPr>
          <a:xfrm>
            <a:off x="7114163" y="4376195"/>
            <a:ext cx="2635318" cy="15550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DC4C09-9DE9-316D-6E30-691E29A23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540" y="1558623"/>
            <a:ext cx="2258784" cy="14520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BDDD8E-A6C2-E834-7AC3-DA1897280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65" y="3442525"/>
            <a:ext cx="1706654" cy="13653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455AEB-9377-9BAC-06D6-3933D5839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467" y="342652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40118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2908</TotalTime>
  <Words>2025</Words>
  <Application>Microsoft Macintosh PowerPoint</Application>
  <PresentationFormat>Panorámica</PresentationFormat>
  <Paragraphs>48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ElsevierSans</vt:lpstr>
      <vt:lpstr>Gill Sans MT</vt:lpstr>
      <vt:lpstr>Galería</vt:lpstr>
      <vt:lpstr>Presentación de PowerPoint</vt:lpstr>
      <vt:lpstr>Presentación de PowerPoint</vt:lpstr>
      <vt:lpstr>Presentación de PowerPoint</vt:lpstr>
      <vt:lpstr>IntroducTION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CRISTHIAN ANDRES AGUIRRE TELLEZ</dc:creator>
  <cp:lastModifiedBy>CRISTHIAN ANDRES AGUIRRE TELLEZ</cp:lastModifiedBy>
  <cp:revision>34</cp:revision>
  <dcterms:created xsi:type="dcterms:W3CDTF">2026-04-22T13:18:46Z</dcterms:created>
  <dcterms:modified xsi:type="dcterms:W3CDTF">2026-05-09T12:04:10Z</dcterms:modified>
</cp:coreProperties>
</file>